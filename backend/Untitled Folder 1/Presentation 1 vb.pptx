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1" r:id="rId1"/>
  </p:sldMasterIdLst>
  <p:notesMasterIdLst>
    <p:notesMasterId r:id="rId15"/>
  </p:notesMasterIdLst>
  <p:sldIdLst>
    <p:sldId id="256" r:id="rId2"/>
    <p:sldId id="257" r:id="rId3"/>
    <p:sldId id="259" r:id="rId4"/>
    <p:sldId id="260" r:id="rId5"/>
    <p:sldId id="261" r:id="rId6"/>
    <p:sldId id="258" r:id="rId7"/>
    <p:sldId id="263" r:id="rId8"/>
    <p:sldId id="264" r:id="rId9"/>
    <p:sldId id="262"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384512-D4A4-9710-C765-2B529D0E5ABD}" v="105" dt="2026-02-17T22:17:03.125"/>
    <p1510:client id="{731D93F5-0BAB-23DA-3B67-C3A9A614674E}" v="39" dt="2026-02-17T20:30:00.522"/>
    <p1510:client id="{74676D0E-4EDB-C4AB-31E1-BB2B26EBCCD2}" v="69" dt="2026-02-17T22:52:09.444"/>
    <p1510:client id="{98700F26-F923-F240-3C3C-C65F74CF6CE3}" v="144" dt="2026-02-18T00:08:34.214"/>
    <p1510:client id="{BDDE187A-BD0B-4828-9BD4-24E6218EB931}" v="90" dt="2026-02-17T21:23:10.932"/>
    <p1510:client id="{BFFC4129-885E-E47B-8963-E70513CDB030}" v="7" dt="2026-02-17T20:43:44.1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0" d="100"/>
          <a:sy n="60" d="100"/>
        </p:scale>
        <p:origin x="19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BE9641-2BD0-47B9-8375-6CF037AA637B}" type="datetimeFigureOut">
              <a:t>24/02/2026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513D32-0935-4F51-A0C6-80BD0F6B360C}" type="slidenum">
              <a:t>‹#›</a:t>
            </a:fld>
            <a:endParaRPr lang="en-US"/>
          </a:p>
        </p:txBody>
      </p:sp>
    </p:spTree>
    <p:extLst>
      <p:ext uri="{BB962C8B-B14F-4D97-AF65-F5344CB8AC3E}">
        <p14:creationId xmlns:p14="http://schemas.microsoft.com/office/powerpoint/2010/main" val="2372717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13D32-0935-4F51-A0C6-80BD0F6B360C}" type="slidenum">
              <a:t>1</a:t>
            </a:fld>
            <a:endParaRPr lang="en-US"/>
          </a:p>
        </p:txBody>
      </p:sp>
    </p:spTree>
    <p:extLst>
      <p:ext uri="{BB962C8B-B14F-4D97-AF65-F5344CB8AC3E}">
        <p14:creationId xmlns:p14="http://schemas.microsoft.com/office/powerpoint/2010/main" val="3022457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2/24/2026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2414114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2/24/2026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8455612"/>
      </p:ext>
    </p:extLst>
  </p:cSld>
  <p:clrMap bg1="lt1" tx1="dk1" bg2="lt2" tx2="dk2" accent1="accent1" accent2="accent2" accent3="accent3" accent4="accent4" accent5="accent5" accent6="accent6" hlink="hlink" folHlink="folHlink"/>
  <p:sldLayoutIdLst>
    <p:sldLayoutId id="2147483850" r:id="rId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85CB65D0-496F-4797-A015-C85839E35D1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colorful light bulb with business icons">
            <a:extLst>
              <a:ext uri="{FF2B5EF4-FFF2-40B4-BE49-F238E27FC236}">
                <a16:creationId xmlns:a16="http://schemas.microsoft.com/office/drawing/2014/main" id="{6F265ABD-4415-033E-2919-03F03CEDBB74}"/>
              </a:ext>
            </a:extLst>
          </p:cNvPr>
          <p:cNvPicPr>
            <a:picLocks noChangeAspect="1"/>
          </p:cNvPicPr>
          <p:nvPr/>
        </p:nvPicPr>
        <p:blipFill>
          <a:blip r:embed="rId3"/>
          <a:srcRect t="15508" b="4135"/>
          <a:stretch>
            <a:fillRect/>
          </a:stretch>
        </p:blipFill>
        <p:spPr>
          <a:xfrm>
            <a:off x="186907" y="43142"/>
            <a:ext cx="12192000" cy="6857989"/>
          </a:xfrm>
          <a:prstGeom prst="rect">
            <a:avLst/>
          </a:prstGeom>
        </p:spPr>
      </p:pic>
      <p:sp>
        <p:nvSpPr>
          <p:cNvPr id="38" name="Rectangle 37">
            <a:extLst>
              <a:ext uri="{FF2B5EF4-FFF2-40B4-BE49-F238E27FC236}">
                <a16:creationId xmlns:a16="http://schemas.microsoft.com/office/drawing/2014/main" id="{95D2C779-8883-4E5F-A170-0F464918C1B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07" y="990598"/>
            <a:ext cx="12188952" cy="4745182"/>
          </a:xfrm>
          <a:prstGeom prst="rect">
            <a:avLst/>
          </a:prstGeom>
          <a:gradFill>
            <a:gsLst>
              <a:gs pos="35000">
                <a:srgbClr val="000000">
                  <a:alpha val="41000"/>
                </a:srgbClr>
              </a:gs>
              <a:gs pos="0">
                <a:srgbClr val="000000">
                  <a:alpha val="0"/>
                </a:srgbClr>
              </a:gs>
              <a:gs pos="47744">
                <a:srgbClr val="000000">
                  <a:alpha val="51000"/>
                </a:srgbClr>
              </a:gs>
              <a:gs pos="70000">
                <a:srgbClr val="000000">
                  <a:alpha val="37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201620" y="1306901"/>
            <a:ext cx="11557927" cy="3794155"/>
          </a:xfrm>
        </p:spPr>
        <p:txBody>
          <a:bodyPr anchor="ctr">
            <a:normAutofit/>
          </a:bodyPr>
          <a:lstStyle/>
          <a:p>
            <a:pPr algn="r"/>
            <a:r>
              <a:rPr lang="en-US" b="0" u="sng" err="1">
                <a:solidFill>
                  <a:srgbClr val="FFFF00"/>
                </a:solidFill>
                <a:ea typeface="+mj-lt"/>
                <a:cs typeface="+mj-lt"/>
              </a:rPr>
              <a:t>Préparation</a:t>
            </a:r>
            <a:r>
              <a:rPr lang="en-US" b="0" u="sng">
                <a:solidFill>
                  <a:srgbClr val="FF0000"/>
                </a:solidFill>
                <a:ea typeface="+mj-lt"/>
                <a:cs typeface="+mj-lt"/>
              </a:rPr>
              <a:t> </a:t>
            </a:r>
            <a:r>
              <a:rPr lang="en-US" b="0" u="sng">
                <a:solidFill>
                  <a:srgbClr val="FFFF00"/>
                </a:solidFill>
                <a:ea typeface="+mj-lt"/>
                <a:cs typeface="+mj-lt"/>
              </a:rPr>
              <a:t>des Données</a:t>
            </a:r>
            <a:endParaRPr lang="en-US" u="sng">
              <a:solidFill>
                <a:srgbClr val="FFFF00"/>
              </a:solidFill>
            </a:endParaRPr>
          </a:p>
        </p:txBody>
      </p:sp>
      <p:sp>
        <p:nvSpPr>
          <p:cNvPr id="3" name="Subtitle 2"/>
          <p:cNvSpPr>
            <a:spLocks noGrp="1"/>
          </p:cNvSpPr>
          <p:nvPr>
            <p:ph type="subTitle" idx="1"/>
          </p:nvPr>
        </p:nvSpPr>
        <p:spPr>
          <a:xfrm>
            <a:off x="187091" y="4481422"/>
            <a:ext cx="4913440" cy="1258737"/>
          </a:xfrm>
        </p:spPr>
        <p:txBody>
          <a:bodyPr anchor="ctr">
            <a:normAutofit/>
          </a:bodyPr>
          <a:lstStyle/>
          <a:p>
            <a:r>
              <a:rPr lang="en-US" sz="2800" err="1">
                <a:solidFill>
                  <a:srgbClr val="FFFFFF"/>
                </a:solidFill>
                <a:ea typeface="+mn-lt"/>
                <a:cs typeface="+mn-lt"/>
              </a:rPr>
              <a:t>Réalisé</a:t>
            </a:r>
            <a:r>
              <a:rPr lang="en-US" sz="2800">
                <a:solidFill>
                  <a:srgbClr val="FFFFFF"/>
                </a:solidFill>
                <a:ea typeface="+mn-lt"/>
                <a:cs typeface="+mn-lt"/>
              </a:rPr>
              <a:t> par :</a:t>
            </a:r>
            <a:r>
              <a:rPr lang="en-US">
                <a:solidFill>
                  <a:srgbClr val="FFFF00"/>
                </a:solidFill>
                <a:ea typeface="+mn-lt"/>
                <a:cs typeface="+mn-lt"/>
              </a:rPr>
              <a:t> </a:t>
            </a:r>
            <a:r>
              <a:rPr lang="en-US" sz="2800" b="1">
                <a:solidFill>
                  <a:srgbClr val="FFFF00"/>
                </a:solidFill>
                <a:ea typeface="+mn-lt"/>
                <a:cs typeface="+mn-lt"/>
              </a:rPr>
              <a:t>Yassine </a:t>
            </a:r>
            <a:r>
              <a:rPr lang="en-US" sz="2800" b="1" err="1">
                <a:solidFill>
                  <a:srgbClr val="FFFF00"/>
                </a:solidFill>
                <a:ea typeface="+mn-lt"/>
                <a:cs typeface="+mn-lt"/>
              </a:rPr>
              <a:t>Ennajai</a:t>
            </a:r>
            <a:endParaRPr lang="en-US" sz="2800">
              <a:solidFill>
                <a:srgbClr val="FFFF00"/>
              </a:solidFill>
            </a:endParaRPr>
          </a:p>
        </p:txBody>
      </p:sp>
      <p:cxnSp>
        <p:nvCxnSpPr>
          <p:cNvPr id="39" name="Straight Connector 38">
            <a:extLst>
              <a:ext uri="{FF2B5EF4-FFF2-40B4-BE49-F238E27FC236}">
                <a16:creationId xmlns:a16="http://schemas.microsoft.com/office/drawing/2014/main" id="{BD96A694-258D-4418-A83C-B9BA72FD44B8}"/>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115300" y="1780927"/>
            <a:ext cx="0" cy="3390901"/>
          </a:xfrm>
          <a:prstGeom prst="line">
            <a:avLst/>
          </a:prstGeom>
          <a:ln w="44450">
            <a:solidFill>
              <a:srgbClr val="FFFFFF"/>
            </a:solidFill>
          </a:ln>
          <a:effectLst>
            <a:outerShdw blurRad="50800" dist="38100" dir="2700000" sx="88000" sy="88000" algn="t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F92653-5D6D-47E6-8744-0DAF76E049C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D646C1-D8B8-8A01-811C-52719366434A}"/>
              </a:ext>
            </a:extLst>
          </p:cNvPr>
          <p:cNvSpPr>
            <a:spLocks noGrp="1"/>
          </p:cNvSpPr>
          <p:nvPr>
            <p:ph type="ctrTitle"/>
          </p:nvPr>
        </p:nvSpPr>
        <p:spPr>
          <a:xfrm>
            <a:off x="708933" y="1614245"/>
            <a:ext cx="10748281" cy="3215162"/>
          </a:xfrm>
        </p:spPr>
        <p:txBody>
          <a:bodyPr anchor="b">
            <a:normAutofit fontScale="90000"/>
          </a:bodyPr>
          <a:lstStyle/>
          <a:p>
            <a:pPr>
              <a:lnSpc>
                <a:spcPct val="90000"/>
              </a:lnSpc>
            </a:pPr>
            <a:endParaRPr lang="en-US" sz="3200">
              <a:solidFill>
                <a:srgbClr val="FFFF00"/>
              </a:solidFill>
              <a:latin typeface="Calisto MT"/>
            </a:endParaRPr>
          </a:p>
          <a:p>
            <a:pPr>
              <a:lnSpc>
                <a:spcPct val="90000"/>
              </a:lnSpc>
            </a:pPr>
            <a:r>
              <a:rPr lang="en-US" sz="3200">
                <a:latin typeface="Calisto MT"/>
                <a:ea typeface="+mj-lt"/>
                <a:cs typeface="+mj-lt"/>
              </a:rPr>
              <a:t>La </a:t>
            </a:r>
            <a:r>
              <a:rPr lang="en-US" sz="3200" err="1">
                <a:latin typeface="Calisto MT"/>
                <a:ea typeface="+mj-lt"/>
                <a:cs typeface="+mj-lt"/>
              </a:rPr>
              <a:t>préparation</a:t>
            </a:r>
            <a:r>
              <a:rPr lang="en-US" sz="3200">
                <a:latin typeface="Calisto MT"/>
                <a:ea typeface="+mj-lt"/>
                <a:cs typeface="+mj-lt"/>
              </a:rPr>
              <a:t> des données est </a:t>
            </a:r>
            <a:r>
              <a:rPr lang="en-US" sz="3200" err="1">
                <a:latin typeface="Calisto MT"/>
                <a:ea typeface="+mj-lt"/>
                <a:cs typeface="+mj-lt"/>
              </a:rPr>
              <a:t>une</a:t>
            </a:r>
            <a:r>
              <a:rPr lang="en-US" sz="3200">
                <a:latin typeface="Calisto MT"/>
                <a:ea typeface="+mj-lt"/>
                <a:cs typeface="+mj-lt"/>
              </a:rPr>
              <a:t> étape </a:t>
            </a:r>
            <a:r>
              <a:rPr lang="en-US" sz="3200" err="1">
                <a:latin typeface="Calisto MT"/>
                <a:ea typeface="+mj-lt"/>
                <a:cs typeface="+mj-lt"/>
              </a:rPr>
              <a:t>essentielle</a:t>
            </a:r>
            <a:r>
              <a:rPr lang="en-US" sz="3200">
                <a:latin typeface="Calisto MT"/>
                <a:ea typeface="+mj-lt"/>
                <a:cs typeface="+mj-lt"/>
              </a:rPr>
              <a:t> dans tout </a:t>
            </a:r>
            <a:r>
              <a:rPr lang="en-US" sz="3200" err="1">
                <a:latin typeface="Calisto MT"/>
                <a:ea typeface="+mj-lt"/>
                <a:cs typeface="+mj-lt"/>
              </a:rPr>
              <a:t>projet</a:t>
            </a:r>
            <a:r>
              <a:rPr lang="en-US" sz="3200">
                <a:latin typeface="Calisto MT"/>
                <a:ea typeface="+mj-lt"/>
                <a:cs typeface="+mj-lt"/>
              </a:rPr>
              <a:t> </a:t>
            </a:r>
            <a:r>
              <a:rPr lang="en-US" sz="3200" err="1">
                <a:latin typeface="Calisto MT"/>
                <a:ea typeface="+mj-lt"/>
                <a:cs typeface="+mj-lt"/>
              </a:rPr>
              <a:t>d'analyse</a:t>
            </a:r>
            <a:r>
              <a:rPr lang="en-US" sz="3200">
                <a:latin typeface="Calisto MT"/>
                <a:ea typeface="+mj-lt"/>
                <a:cs typeface="+mj-lt"/>
              </a:rPr>
              <a:t> </a:t>
            </a:r>
            <a:r>
              <a:rPr lang="en-US" sz="3200" err="1">
                <a:latin typeface="Calisto MT"/>
                <a:ea typeface="+mj-lt"/>
                <a:cs typeface="+mj-lt"/>
              </a:rPr>
              <a:t>ou</a:t>
            </a:r>
            <a:r>
              <a:rPr lang="en-US" sz="3200">
                <a:latin typeface="Calisto MT"/>
                <a:ea typeface="+mj-lt"/>
                <a:cs typeface="+mj-lt"/>
              </a:rPr>
              <a:t> de machine learning. Elle </a:t>
            </a:r>
            <a:r>
              <a:rPr lang="en-US" sz="3200" err="1">
                <a:latin typeface="Calisto MT"/>
                <a:ea typeface="+mj-lt"/>
                <a:cs typeface="+mj-lt"/>
              </a:rPr>
              <a:t>consiste</a:t>
            </a:r>
            <a:r>
              <a:rPr lang="en-US" sz="3200">
                <a:latin typeface="Calisto MT"/>
                <a:ea typeface="+mj-lt"/>
                <a:cs typeface="+mj-lt"/>
              </a:rPr>
              <a:t> à </a:t>
            </a:r>
            <a:r>
              <a:rPr lang="en-US" sz="3200" err="1">
                <a:latin typeface="Calisto MT"/>
                <a:ea typeface="+mj-lt"/>
                <a:cs typeface="+mj-lt"/>
              </a:rPr>
              <a:t>rendre</a:t>
            </a:r>
            <a:r>
              <a:rPr lang="en-US" sz="3200">
                <a:latin typeface="Calisto MT"/>
                <a:ea typeface="+mj-lt"/>
                <a:cs typeface="+mj-lt"/>
              </a:rPr>
              <a:t> les données </a:t>
            </a:r>
            <a:r>
              <a:rPr lang="en-US" sz="3200" err="1">
                <a:latin typeface="Calisto MT"/>
                <a:ea typeface="+mj-lt"/>
                <a:cs typeface="+mj-lt"/>
              </a:rPr>
              <a:t>propres</a:t>
            </a:r>
            <a:r>
              <a:rPr lang="en-US" sz="3200">
                <a:latin typeface="Calisto MT"/>
                <a:ea typeface="+mj-lt"/>
                <a:cs typeface="+mj-lt"/>
              </a:rPr>
              <a:t>, </a:t>
            </a:r>
            <a:r>
              <a:rPr lang="en-US" sz="3200" err="1">
                <a:latin typeface="Calisto MT"/>
                <a:ea typeface="+mj-lt"/>
                <a:cs typeface="+mj-lt"/>
              </a:rPr>
              <a:t>cohérentes</a:t>
            </a:r>
            <a:r>
              <a:rPr lang="en-US" sz="3200">
                <a:latin typeface="Calisto MT"/>
                <a:ea typeface="+mj-lt"/>
                <a:cs typeface="+mj-lt"/>
              </a:rPr>
              <a:t> et </a:t>
            </a:r>
            <a:r>
              <a:rPr lang="en-US" sz="3200" err="1">
                <a:latin typeface="Calisto MT"/>
                <a:ea typeface="+mj-lt"/>
                <a:cs typeface="+mj-lt"/>
              </a:rPr>
              <a:t>prêtes</a:t>
            </a:r>
            <a:r>
              <a:rPr lang="en-US" sz="3200">
                <a:latin typeface="Calisto MT"/>
                <a:ea typeface="+mj-lt"/>
                <a:cs typeface="+mj-lt"/>
              </a:rPr>
              <a:t> pour </a:t>
            </a:r>
            <a:r>
              <a:rPr lang="en-US" sz="3200" err="1">
                <a:latin typeface="Calisto MT"/>
                <a:ea typeface="+mj-lt"/>
                <a:cs typeface="+mj-lt"/>
              </a:rPr>
              <a:t>l'analyse</a:t>
            </a:r>
            <a:r>
              <a:rPr lang="en-US" sz="3200">
                <a:latin typeface="Calisto MT"/>
                <a:ea typeface="+mj-lt"/>
                <a:cs typeface="+mj-lt"/>
              </a:rPr>
              <a:t>. Cette étape </a:t>
            </a:r>
            <a:r>
              <a:rPr lang="en-US" sz="3200" err="1">
                <a:latin typeface="Calisto MT"/>
                <a:ea typeface="+mj-lt"/>
                <a:cs typeface="+mj-lt"/>
              </a:rPr>
              <a:t>garantit</a:t>
            </a:r>
            <a:r>
              <a:rPr lang="en-US" sz="3200">
                <a:latin typeface="Calisto MT"/>
                <a:ea typeface="+mj-lt"/>
                <a:cs typeface="+mj-lt"/>
              </a:rPr>
              <a:t> </a:t>
            </a:r>
            <a:r>
              <a:rPr lang="en-US" sz="3200" err="1">
                <a:latin typeface="Calisto MT"/>
                <a:ea typeface="+mj-lt"/>
                <a:cs typeface="+mj-lt"/>
              </a:rPr>
              <a:t>que</a:t>
            </a:r>
            <a:r>
              <a:rPr lang="en-US" sz="3200">
                <a:latin typeface="Calisto MT"/>
                <a:ea typeface="+mj-lt"/>
                <a:cs typeface="+mj-lt"/>
              </a:rPr>
              <a:t> les </a:t>
            </a:r>
            <a:r>
              <a:rPr lang="en-US" sz="3200" err="1">
                <a:latin typeface="Calisto MT"/>
                <a:ea typeface="+mj-lt"/>
                <a:cs typeface="+mj-lt"/>
              </a:rPr>
              <a:t>résultats</a:t>
            </a:r>
            <a:r>
              <a:rPr lang="en-US" sz="3200">
                <a:latin typeface="Calisto MT"/>
                <a:ea typeface="+mj-lt"/>
                <a:cs typeface="+mj-lt"/>
              </a:rPr>
              <a:t> </a:t>
            </a:r>
            <a:r>
              <a:rPr lang="en-US" sz="3200" err="1">
                <a:latin typeface="Calisto MT"/>
                <a:ea typeface="+mj-lt"/>
                <a:cs typeface="+mj-lt"/>
              </a:rPr>
              <a:t>obtenus</a:t>
            </a:r>
            <a:r>
              <a:rPr lang="en-US" sz="3200">
                <a:latin typeface="Calisto MT"/>
                <a:ea typeface="+mj-lt"/>
                <a:cs typeface="+mj-lt"/>
              </a:rPr>
              <a:t> </a:t>
            </a:r>
            <a:r>
              <a:rPr lang="en-US" sz="3200" err="1">
                <a:latin typeface="Calisto MT"/>
                <a:ea typeface="+mj-lt"/>
                <a:cs typeface="+mj-lt"/>
              </a:rPr>
              <a:t>seront</a:t>
            </a:r>
            <a:r>
              <a:rPr lang="en-US" sz="3200">
                <a:latin typeface="Calisto MT"/>
                <a:ea typeface="+mj-lt"/>
                <a:cs typeface="+mj-lt"/>
              </a:rPr>
              <a:t> </a:t>
            </a:r>
            <a:r>
              <a:rPr lang="en-US" sz="3200" err="1">
                <a:latin typeface="Calisto MT"/>
                <a:ea typeface="+mj-lt"/>
                <a:cs typeface="+mj-lt"/>
              </a:rPr>
              <a:t>fiables</a:t>
            </a:r>
            <a:r>
              <a:rPr lang="en-US" sz="3200">
                <a:latin typeface="Calisto MT"/>
                <a:ea typeface="+mj-lt"/>
                <a:cs typeface="+mj-lt"/>
              </a:rPr>
              <a:t> et précis.</a:t>
            </a:r>
            <a:endParaRPr lang="en-US" sz="3200">
              <a:latin typeface="Calisto MT"/>
            </a:endParaRPr>
          </a:p>
          <a:p>
            <a:pPr>
              <a:lnSpc>
                <a:spcPct val="90000"/>
              </a:lnSpc>
            </a:pPr>
            <a:endParaRPr lang="en-US" sz="3100"/>
          </a:p>
        </p:txBody>
      </p:sp>
      <p:cxnSp>
        <p:nvCxnSpPr>
          <p:cNvPr id="10" name="Straight Connector 9">
            <a:extLst>
              <a:ext uri="{FF2B5EF4-FFF2-40B4-BE49-F238E27FC236}">
                <a16:creationId xmlns:a16="http://schemas.microsoft.com/office/drawing/2014/main" id="{9CA98CE3-81A7-4FFE-A047-9AA65998D87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8D91C2B-BDB9-49BE-9C44-E0CFE597ABF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0DD2876-20E6-2FB5-7CF0-6543BE9DCA42}"/>
              </a:ext>
            </a:extLst>
          </p:cNvPr>
          <p:cNvSpPr txBox="1"/>
          <p:nvPr/>
        </p:nvSpPr>
        <p:spPr>
          <a:xfrm>
            <a:off x="693964" y="721179"/>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i="0" u="none" strike="noStrike" cap="all" baseline="0">
                <a:solidFill>
                  <a:srgbClr val="FFFF00"/>
                </a:solidFill>
                <a:latin typeface="Univers Condensed"/>
                <a:ea typeface="Univers Condensed"/>
                <a:cs typeface="Univers Condensed"/>
              </a:rPr>
              <a:t>Introduction</a:t>
            </a:r>
            <a:endParaRPr lang="en-US" sz="3600" b="1"/>
          </a:p>
          <a:p>
            <a:pPr algn="ctr"/>
            <a:endParaRPr lang="en-US"/>
          </a:p>
        </p:txBody>
      </p:sp>
    </p:spTree>
    <p:extLst>
      <p:ext uri="{BB962C8B-B14F-4D97-AF65-F5344CB8AC3E}">
        <p14:creationId xmlns:p14="http://schemas.microsoft.com/office/powerpoint/2010/main" val="3123185170"/>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6E0BD2-4BAA-192A-04C8-ED4C7CA8CFB2}"/>
              </a:ext>
            </a:extLst>
          </p:cNvPr>
          <p:cNvSpPr>
            <a:spLocks noGrp="1"/>
          </p:cNvSpPr>
          <p:nvPr>
            <p:ph type="ctrTitle"/>
          </p:nvPr>
        </p:nvSpPr>
        <p:spPr>
          <a:xfrm>
            <a:off x="795966" y="1489984"/>
            <a:ext cx="10283452" cy="3871143"/>
          </a:xfrm>
        </p:spPr>
        <p:txBody>
          <a:bodyPr vert="horz" lIns="91440" tIns="45720" rIns="91440" bIns="45720" rtlCol="0" anchor="t">
            <a:noAutofit/>
          </a:bodyPr>
          <a:lstStyle/>
          <a:p>
            <a:pPr>
              <a:lnSpc>
                <a:spcPct val="90000"/>
              </a:lnSpc>
            </a:pPr>
            <a:r>
              <a:rPr lang="en-US" sz="2400" b="1">
                <a:ea typeface="+mj-lt"/>
                <a:cs typeface="+mj-lt"/>
              </a:rPr>
              <a:t>Pandas</a:t>
            </a:r>
            <a:r>
              <a:rPr lang="en-US" sz="2400">
                <a:ea typeface="+mj-lt"/>
                <a:cs typeface="+mj-lt"/>
              </a:rPr>
              <a:t> est </a:t>
            </a:r>
            <a:r>
              <a:rPr lang="en-US" sz="2400" err="1">
                <a:ea typeface="+mj-lt"/>
                <a:cs typeface="+mj-lt"/>
              </a:rPr>
              <a:t>une</a:t>
            </a:r>
            <a:r>
              <a:rPr lang="en-US" sz="2400">
                <a:ea typeface="+mj-lt"/>
                <a:cs typeface="+mj-lt"/>
              </a:rPr>
              <a:t> bibliothèque </a:t>
            </a:r>
            <a:r>
              <a:rPr lang="en-US" sz="2400" b="1">
                <a:ea typeface="+mj-lt"/>
                <a:cs typeface="+mj-lt"/>
              </a:rPr>
              <a:t>Python</a:t>
            </a:r>
            <a:r>
              <a:rPr lang="en-US" sz="2400">
                <a:ea typeface="+mj-lt"/>
                <a:cs typeface="+mj-lt"/>
              </a:rPr>
              <a:t> open-source </a:t>
            </a:r>
            <a:r>
              <a:rPr lang="en-US" sz="2400" err="1">
                <a:ea typeface="+mj-lt"/>
                <a:cs typeface="+mj-lt"/>
              </a:rPr>
              <a:t>conçue</a:t>
            </a:r>
            <a:r>
              <a:rPr lang="en-US" sz="2400">
                <a:ea typeface="+mj-lt"/>
                <a:cs typeface="+mj-lt"/>
              </a:rPr>
              <a:t> pour la </a:t>
            </a:r>
            <a:r>
              <a:rPr lang="en-US" sz="2400" b="1">
                <a:ea typeface="+mj-lt"/>
                <a:cs typeface="+mj-lt"/>
              </a:rPr>
              <a:t>manipulation et </a:t>
            </a:r>
            <a:r>
              <a:rPr lang="en-US" sz="2400" b="1" err="1">
                <a:ea typeface="+mj-lt"/>
                <a:cs typeface="+mj-lt"/>
              </a:rPr>
              <a:t>l'analyse</a:t>
            </a:r>
            <a:r>
              <a:rPr lang="en-US" sz="2400" b="1">
                <a:ea typeface="+mj-lt"/>
                <a:cs typeface="+mj-lt"/>
              </a:rPr>
              <a:t> des données</a:t>
            </a:r>
            <a:r>
              <a:rPr lang="en-US" sz="2400">
                <a:ea typeface="+mj-lt"/>
                <a:cs typeface="+mj-lt"/>
              </a:rPr>
              <a:t>. Elle </a:t>
            </a:r>
            <a:r>
              <a:rPr lang="en-US" sz="2400" err="1">
                <a:ea typeface="+mj-lt"/>
                <a:cs typeface="+mj-lt"/>
              </a:rPr>
              <a:t>permet</a:t>
            </a:r>
            <a:r>
              <a:rPr lang="en-US" sz="2400">
                <a:ea typeface="+mj-lt"/>
                <a:cs typeface="+mj-lt"/>
              </a:rPr>
              <a:t> de </a:t>
            </a:r>
            <a:r>
              <a:rPr lang="en-US" sz="2400" err="1">
                <a:ea typeface="+mj-lt"/>
                <a:cs typeface="+mj-lt"/>
              </a:rPr>
              <a:t>traiter</a:t>
            </a:r>
            <a:r>
              <a:rPr lang="en-US" sz="2400">
                <a:ea typeface="+mj-lt"/>
                <a:cs typeface="+mj-lt"/>
              </a:rPr>
              <a:t> des données complexes et </a:t>
            </a:r>
            <a:r>
              <a:rPr lang="en-US" sz="2400" err="1">
                <a:ea typeface="+mj-lt"/>
                <a:cs typeface="+mj-lt"/>
              </a:rPr>
              <a:t>volumineuses</a:t>
            </a:r>
            <a:r>
              <a:rPr lang="en-US" sz="2400">
                <a:ea typeface="+mj-lt"/>
                <a:cs typeface="+mj-lt"/>
              </a:rPr>
              <a:t> de manière </a:t>
            </a:r>
            <a:r>
              <a:rPr lang="en-US" sz="2400" b="1" err="1">
                <a:ea typeface="+mj-lt"/>
                <a:cs typeface="+mj-lt"/>
              </a:rPr>
              <a:t>rapide</a:t>
            </a:r>
            <a:r>
              <a:rPr lang="en-US" sz="2400" b="1">
                <a:ea typeface="+mj-lt"/>
                <a:cs typeface="+mj-lt"/>
              </a:rPr>
              <a:t> et </a:t>
            </a:r>
            <a:r>
              <a:rPr lang="en-US" sz="2400" b="1" err="1">
                <a:ea typeface="+mj-lt"/>
                <a:cs typeface="+mj-lt"/>
              </a:rPr>
              <a:t>efficace</a:t>
            </a:r>
            <a:r>
              <a:rPr lang="en-US" sz="2400">
                <a:ea typeface="+mj-lt"/>
                <a:cs typeface="+mj-lt"/>
              </a:rPr>
              <a:t>.</a:t>
            </a:r>
            <a:endParaRPr lang="en-US" sz="2400"/>
          </a:p>
          <a:p>
            <a:pPr>
              <a:lnSpc>
                <a:spcPct val="90000"/>
              </a:lnSpc>
            </a:pPr>
            <a:r>
              <a:rPr lang="en-US" sz="2400" err="1"/>
              <a:t>Principales</a:t>
            </a:r>
            <a:r>
              <a:rPr lang="en-US" sz="2400"/>
              <a:t> </a:t>
            </a:r>
            <a:r>
              <a:rPr lang="en-US" sz="2400" err="1"/>
              <a:t>caractéristiques</a:t>
            </a:r>
            <a:r>
              <a:rPr lang="en-US" sz="2400"/>
              <a:t> de Pandas :</a:t>
            </a:r>
          </a:p>
          <a:p>
            <a:pPr marL="285750" indent="-285750">
              <a:lnSpc>
                <a:spcPct val="90000"/>
              </a:lnSpc>
              <a:buFont typeface="Arial"/>
              <a:buChar char="•"/>
            </a:pPr>
            <a:r>
              <a:rPr lang="en-US" sz="2400" b="1" err="1">
                <a:ea typeface="+mj-lt"/>
                <a:cs typeface="+mj-lt"/>
              </a:rPr>
              <a:t>DataFrame</a:t>
            </a:r>
            <a:r>
              <a:rPr lang="en-US" sz="2400">
                <a:ea typeface="+mj-lt"/>
                <a:cs typeface="+mj-lt"/>
              </a:rPr>
              <a:t> : structure de données </a:t>
            </a:r>
            <a:r>
              <a:rPr lang="en-US" sz="2400" err="1">
                <a:ea typeface="+mj-lt"/>
                <a:cs typeface="+mj-lt"/>
              </a:rPr>
              <a:t>en</a:t>
            </a:r>
            <a:r>
              <a:rPr lang="en-US" sz="2400">
                <a:ea typeface="+mj-lt"/>
                <a:cs typeface="+mj-lt"/>
              </a:rPr>
              <a:t> 2 dimensions (tableau) avec des </a:t>
            </a:r>
            <a:r>
              <a:rPr lang="en-US" sz="2400" b="1" err="1">
                <a:ea typeface="+mj-lt"/>
                <a:cs typeface="+mj-lt"/>
              </a:rPr>
              <a:t>lignes</a:t>
            </a:r>
            <a:r>
              <a:rPr lang="en-US" sz="2400" b="1">
                <a:ea typeface="+mj-lt"/>
                <a:cs typeface="+mj-lt"/>
              </a:rPr>
              <a:t> et des </a:t>
            </a:r>
            <a:r>
              <a:rPr lang="en-US" sz="2400" b="1" err="1">
                <a:ea typeface="+mj-lt"/>
                <a:cs typeface="+mj-lt"/>
              </a:rPr>
              <a:t>colonnes</a:t>
            </a:r>
            <a:r>
              <a:rPr lang="en-US" sz="2400">
                <a:ea typeface="+mj-lt"/>
                <a:cs typeface="+mj-lt"/>
              </a:rPr>
              <a:t>, </a:t>
            </a:r>
            <a:r>
              <a:rPr lang="en-US" sz="2400" err="1">
                <a:ea typeface="+mj-lt"/>
                <a:cs typeface="+mj-lt"/>
              </a:rPr>
              <a:t>similaire</a:t>
            </a:r>
            <a:r>
              <a:rPr lang="en-US" sz="2400">
                <a:ea typeface="+mj-lt"/>
                <a:cs typeface="+mj-lt"/>
              </a:rPr>
              <a:t> à Excel.</a:t>
            </a:r>
            <a:endParaRPr lang="en-US" sz="2400"/>
          </a:p>
          <a:p>
            <a:pPr marL="285750" indent="-285750">
              <a:lnSpc>
                <a:spcPct val="90000"/>
              </a:lnSpc>
              <a:buFont typeface="Arial"/>
              <a:buChar char="•"/>
            </a:pPr>
            <a:r>
              <a:rPr lang="en-US" sz="2400" b="1">
                <a:ea typeface="+mj-lt"/>
                <a:cs typeface="+mj-lt"/>
              </a:rPr>
              <a:t>Series</a:t>
            </a:r>
            <a:r>
              <a:rPr lang="en-US" sz="2400">
                <a:ea typeface="+mj-lt"/>
                <a:cs typeface="+mj-lt"/>
              </a:rPr>
              <a:t> : structure de données </a:t>
            </a:r>
            <a:r>
              <a:rPr lang="en-US" sz="2400" err="1">
                <a:ea typeface="+mj-lt"/>
                <a:cs typeface="+mj-lt"/>
              </a:rPr>
              <a:t>en</a:t>
            </a:r>
            <a:r>
              <a:rPr lang="en-US" sz="2400">
                <a:ea typeface="+mj-lt"/>
                <a:cs typeface="+mj-lt"/>
              </a:rPr>
              <a:t> 1 dimension (</a:t>
            </a:r>
            <a:r>
              <a:rPr lang="en-US" sz="2400" err="1">
                <a:ea typeface="+mj-lt"/>
                <a:cs typeface="+mj-lt"/>
              </a:rPr>
              <a:t>une</a:t>
            </a:r>
            <a:r>
              <a:rPr lang="en-US" sz="2400">
                <a:ea typeface="+mj-lt"/>
                <a:cs typeface="+mj-lt"/>
              </a:rPr>
              <a:t> </a:t>
            </a:r>
            <a:r>
              <a:rPr lang="en-US" sz="2400" err="1">
                <a:ea typeface="+mj-lt"/>
                <a:cs typeface="+mj-lt"/>
              </a:rPr>
              <a:t>seule</a:t>
            </a:r>
            <a:r>
              <a:rPr lang="en-US" sz="2400">
                <a:ea typeface="+mj-lt"/>
                <a:cs typeface="+mj-lt"/>
              </a:rPr>
              <a:t> </a:t>
            </a:r>
            <a:r>
              <a:rPr lang="en-US" sz="2400" err="1">
                <a:ea typeface="+mj-lt"/>
                <a:cs typeface="+mj-lt"/>
              </a:rPr>
              <a:t>colonne</a:t>
            </a:r>
            <a:r>
              <a:rPr lang="en-US" sz="2400">
                <a:ea typeface="+mj-lt"/>
                <a:cs typeface="+mj-lt"/>
              </a:rPr>
              <a:t>).</a:t>
            </a:r>
            <a:endParaRPr lang="en-US" sz="2400"/>
          </a:p>
          <a:p>
            <a:pPr marL="285750" indent="-285750">
              <a:lnSpc>
                <a:spcPct val="90000"/>
              </a:lnSpc>
              <a:buFont typeface="Arial"/>
              <a:buChar char="•"/>
            </a:pPr>
            <a:r>
              <a:rPr lang="en-US" sz="2400" b="1" err="1">
                <a:ea typeface="+mj-lt"/>
                <a:cs typeface="+mj-lt"/>
              </a:rPr>
              <a:t>Nettoyage</a:t>
            </a:r>
            <a:r>
              <a:rPr lang="en-US" sz="2400" b="1">
                <a:ea typeface="+mj-lt"/>
                <a:cs typeface="+mj-lt"/>
              </a:rPr>
              <a:t> et transformation des données</a:t>
            </a:r>
            <a:r>
              <a:rPr lang="en-US" sz="2400">
                <a:ea typeface="+mj-lt"/>
                <a:cs typeface="+mj-lt"/>
              </a:rPr>
              <a:t> : </a:t>
            </a:r>
            <a:r>
              <a:rPr lang="en-US" sz="2400" err="1">
                <a:ea typeface="+mj-lt"/>
                <a:cs typeface="+mj-lt"/>
              </a:rPr>
              <a:t>gérer</a:t>
            </a:r>
            <a:r>
              <a:rPr lang="en-US" sz="2400">
                <a:ea typeface="+mj-lt"/>
                <a:cs typeface="+mj-lt"/>
              </a:rPr>
              <a:t> les </a:t>
            </a:r>
            <a:r>
              <a:rPr lang="en-US" sz="2400" err="1">
                <a:ea typeface="+mj-lt"/>
                <a:cs typeface="+mj-lt"/>
              </a:rPr>
              <a:t>valeurs</a:t>
            </a:r>
            <a:r>
              <a:rPr lang="en-US" sz="2400">
                <a:ea typeface="+mj-lt"/>
                <a:cs typeface="+mj-lt"/>
              </a:rPr>
              <a:t> </a:t>
            </a:r>
            <a:r>
              <a:rPr lang="en-US" sz="2400" err="1">
                <a:ea typeface="+mj-lt"/>
                <a:cs typeface="+mj-lt"/>
              </a:rPr>
              <a:t>manquantes</a:t>
            </a:r>
            <a:r>
              <a:rPr lang="en-US" sz="2400">
                <a:ea typeface="+mj-lt"/>
                <a:cs typeface="+mj-lt"/>
              </a:rPr>
              <a:t>, </a:t>
            </a:r>
            <a:r>
              <a:rPr lang="en-US" sz="2400" err="1">
                <a:ea typeface="+mj-lt"/>
                <a:cs typeface="+mj-lt"/>
              </a:rPr>
              <a:t>supprimer</a:t>
            </a:r>
            <a:r>
              <a:rPr lang="en-US" sz="2400">
                <a:ea typeface="+mj-lt"/>
                <a:cs typeface="+mj-lt"/>
              </a:rPr>
              <a:t> les </a:t>
            </a:r>
            <a:r>
              <a:rPr lang="en-US" sz="2400" err="1">
                <a:ea typeface="+mj-lt"/>
                <a:cs typeface="+mj-lt"/>
              </a:rPr>
              <a:t>doublons</a:t>
            </a:r>
            <a:r>
              <a:rPr lang="en-US" sz="2400">
                <a:ea typeface="+mj-lt"/>
                <a:cs typeface="+mj-lt"/>
              </a:rPr>
              <a:t>, changer les types de données…</a:t>
            </a:r>
            <a:endParaRPr lang="en-US" sz="2400"/>
          </a:p>
          <a:p>
            <a:pPr marL="285750" indent="-285750">
              <a:lnSpc>
                <a:spcPct val="90000"/>
              </a:lnSpc>
              <a:buFont typeface="Arial"/>
              <a:buChar char="•"/>
            </a:pPr>
            <a:r>
              <a:rPr lang="en-US" sz="2400" b="1" err="1">
                <a:ea typeface="+mj-lt"/>
                <a:cs typeface="+mj-lt"/>
              </a:rPr>
              <a:t>Analyse</a:t>
            </a:r>
            <a:r>
              <a:rPr lang="en-US" sz="2400" b="1">
                <a:ea typeface="+mj-lt"/>
                <a:cs typeface="+mj-lt"/>
              </a:rPr>
              <a:t> et </a:t>
            </a:r>
            <a:r>
              <a:rPr lang="en-US" sz="2400" b="1" err="1">
                <a:ea typeface="+mj-lt"/>
                <a:cs typeface="+mj-lt"/>
              </a:rPr>
              <a:t>statistiques</a:t>
            </a:r>
            <a:r>
              <a:rPr lang="en-US" sz="2400">
                <a:ea typeface="+mj-lt"/>
                <a:cs typeface="+mj-lt"/>
              </a:rPr>
              <a:t> : tri, </a:t>
            </a:r>
            <a:r>
              <a:rPr lang="en-US" sz="2400" err="1">
                <a:ea typeface="+mj-lt"/>
                <a:cs typeface="+mj-lt"/>
              </a:rPr>
              <a:t>regroupement</a:t>
            </a:r>
            <a:r>
              <a:rPr lang="en-US" sz="2400">
                <a:ea typeface="+mj-lt"/>
                <a:cs typeface="+mj-lt"/>
              </a:rPr>
              <a:t>, </a:t>
            </a:r>
            <a:r>
              <a:rPr lang="en-US" sz="2400" err="1">
                <a:ea typeface="+mj-lt"/>
                <a:cs typeface="+mj-lt"/>
              </a:rPr>
              <a:t>calcul</a:t>
            </a:r>
            <a:r>
              <a:rPr lang="en-US" sz="2400">
                <a:ea typeface="+mj-lt"/>
                <a:cs typeface="+mj-lt"/>
              </a:rPr>
              <a:t> de la </a:t>
            </a:r>
            <a:r>
              <a:rPr lang="en-US" sz="2400" err="1">
                <a:ea typeface="+mj-lt"/>
                <a:cs typeface="+mj-lt"/>
              </a:rPr>
              <a:t>moyenne</a:t>
            </a:r>
            <a:r>
              <a:rPr lang="en-US" sz="2400">
                <a:ea typeface="+mj-lt"/>
                <a:cs typeface="+mj-lt"/>
              </a:rPr>
              <a:t>, </a:t>
            </a:r>
            <a:r>
              <a:rPr lang="en-US" sz="2400" err="1">
                <a:ea typeface="+mj-lt"/>
                <a:cs typeface="+mj-lt"/>
              </a:rPr>
              <a:t>somme</a:t>
            </a:r>
            <a:r>
              <a:rPr lang="en-US" sz="2400">
                <a:ea typeface="+mj-lt"/>
                <a:cs typeface="+mj-lt"/>
              </a:rPr>
              <a:t>, minimum, maximum, etc.</a:t>
            </a:r>
            <a:endParaRPr lang="en-US" sz="2400"/>
          </a:p>
          <a:p>
            <a:pPr marL="285750" indent="-285750">
              <a:lnSpc>
                <a:spcPct val="90000"/>
              </a:lnSpc>
              <a:buFont typeface="Arial"/>
              <a:buChar char="•"/>
            </a:pPr>
            <a:r>
              <a:rPr lang="en-US" sz="2400" b="1" err="1">
                <a:ea typeface="+mj-lt"/>
                <a:cs typeface="+mj-lt"/>
              </a:rPr>
              <a:t>Compatibilité</a:t>
            </a:r>
            <a:r>
              <a:rPr lang="en-US" sz="2400" b="1">
                <a:ea typeface="+mj-lt"/>
                <a:cs typeface="+mj-lt"/>
              </a:rPr>
              <a:t> avec </a:t>
            </a:r>
            <a:r>
              <a:rPr lang="en-US" sz="2400" b="1" err="1">
                <a:ea typeface="+mj-lt"/>
                <a:cs typeface="+mj-lt"/>
              </a:rPr>
              <a:t>plusieurs</a:t>
            </a:r>
            <a:r>
              <a:rPr lang="en-US" sz="2400" b="1">
                <a:ea typeface="+mj-lt"/>
                <a:cs typeface="+mj-lt"/>
              </a:rPr>
              <a:t> formats</a:t>
            </a:r>
            <a:r>
              <a:rPr lang="en-US" sz="2400">
                <a:ea typeface="+mj-lt"/>
                <a:cs typeface="+mj-lt"/>
              </a:rPr>
              <a:t> : CSV, Excel, SQL, JSON, etc.</a:t>
            </a:r>
            <a:endParaRPr lang="en-US" sz="2400"/>
          </a:p>
          <a:p>
            <a:pPr>
              <a:lnSpc>
                <a:spcPct val="90000"/>
              </a:lnSpc>
            </a:pPr>
            <a:endParaRPr lang="en-US" sz="2100"/>
          </a:p>
        </p:txBody>
      </p:sp>
      <p:cxnSp>
        <p:nvCxnSpPr>
          <p:cNvPr id="9" name="Straight Connector 8">
            <a:extLst>
              <a:ext uri="{FF2B5EF4-FFF2-40B4-BE49-F238E27FC236}">
                <a16:creationId xmlns:a16="http://schemas.microsoft.com/office/drawing/2014/main" id="{9CA98CE3-81A7-4FFE-A047-9AA65998D87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8D91C2B-BDB9-49BE-9C44-E0CFE597ABF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932ED2C-68C3-4683-065D-3C316D48EF73}"/>
              </a:ext>
            </a:extLst>
          </p:cNvPr>
          <p:cNvSpPr txBox="1"/>
          <p:nvPr/>
        </p:nvSpPr>
        <p:spPr>
          <a:xfrm>
            <a:off x="802821" y="762000"/>
            <a:ext cx="6463392"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i="0" u="none" strike="noStrike" cap="all" baseline="0">
                <a:solidFill>
                  <a:srgbClr val="FFFF00"/>
                </a:solidFill>
                <a:latin typeface="Univers Condensed"/>
                <a:ea typeface="Univers Condensed"/>
                <a:cs typeface="Univers Condensed"/>
              </a:rPr>
              <a:t>Pandas</a:t>
            </a:r>
            <a:endParaRPr lang="en-US" sz="3200">
              <a:solidFill>
                <a:srgbClr val="FFFF00"/>
              </a:solidFill>
            </a:endParaRPr>
          </a:p>
          <a:p>
            <a:pPr algn="ctr"/>
            <a:endParaRPr lang="en-US"/>
          </a:p>
        </p:txBody>
      </p:sp>
    </p:spTree>
    <p:extLst>
      <p:ext uri="{BB962C8B-B14F-4D97-AF65-F5344CB8AC3E}">
        <p14:creationId xmlns:p14="http://schemas.microsoft.com/office/powerpoint/2010/main" val="3825749723"/>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433A79-1587-45D9-9717-91CFB4574531}"/>
              </a:ext>
            </a:extLst>
          </p:cNvPr>
          <p:cNvSpPr>
            <a:spLocks noGrp="1"/>
          </p:cNvSpPr>
          <p:nvPr>
            <p:ph type="ctrTitle"/>
          </p:nvPr>
        </p:nvSpPr>
        <p:spPr>
          <a:xfrm>
            <a:off x="804180" y="722080"/>
            <a:ext cx="10215417" cy="5599249"/>
          </a:xfrm>
        </p:spPr>
        <p:txBody>
          <a:bodyPr vert="horz" lIns="91440" tIns="45720" rIns="91440" bIns="45720" rtlCol="0">
            <a:normAutofit fontScale="90000"/>
          </a:bodyPr>
          <a:lstStyle/>
          <a:p>
            <a:pPr>
              <a:lnSpc>
                <a:spcPct val="90000"/>
              </a:lnSpc>
            </a:pPr>
            <a:r>
              <a:rPr lang="en-US" sz="2800" b="1" dirty="0" err="1">
                <a:solidFill>
                  <a:srgbClr val="FFFF00"/>
                </a:solidFill>
              </a:rPr>
              <a:t>NumPy</a:t>
            </a:r>
            <a:r>
              <a:rPr lang="en-US" sz="2800" dirty="0">
                <a:solidFill>
                  <a:srgbClr val="FFFF00"/>
                </a:solidFill>
              </a:rPr>
              <a:t> (Numerical Python) </a:t>
            </a:r>
            <a:br>
              <a:rPr lang="en-US" sz="2800" dirty="0">
                <a:solidFill>
                  <a:srgbClr val="FFFF00"/>
                </a:solidFill>
              </a:rPr>
            </a:br>
            <a:r>
              <a:rPr lang="en-US" sz="1700" dirty="0"/>
              <a:t/>
            </a:r>
            <a:br>
              <a:rPr lang="en-US" sz="1700" dirty="0"/>
            </a:br>
            <a:r>
              <a:rPr lang="en-US" sz="1700" dirty="0"/>
              <a:t/>
            </a:r>
            <a:br>
              <a:rPr lang="en-US" sz="1700" dirty="0"/>
            </a:br>
            <a:r>
              <a:rPr lang="en-US" sz="2800" dirty="0" err="1">
                <a:latin typeface="Calisto MT"/>
              </a:rPr>
              <a:t>est</a:t>
            </a:r>
            <a:r>
              <a:rPr lang="en-US" sz="2800" dirty="0">
                <a:latin typeface="Calisto MT"/>
              </a:rPr>
              <a:t> </a:t>
            </a:r>
            <a:r>
              <a:rPr lang="en-US" sz="2800" dirty="0" err="1">
                <a:latin typeface="Calisto MT"/>
              </a:rPr>
              <a:t>une</a:t>
            </a:r>
            <a:r>
              <a:rPr lang="en-US" sz="2800" dirty="0">
                <a:latin typeface="Calisto MT"/>
              </a:rPr>
              <a:t> </a:t>
            </a:r>
            <a:r>
              <a:rPr lang="en-US" sz="2800" dirty="0" err="1">
                <a:latin typeface="Calisto MT"/>
              </a:rPr>
              <a:t>bibliothèque</a:t>
            </a:r>
            <a:r>
              <a:rPr lang="en-US" sz="2800" dirty="0">
                <a:latin typeface="Calisto MT"/>
              </a:rPr>
              <a:t> </a:t>
            </a:r>
            <a:r>
              <a:rPr lang="en-US" sz="2800" dirty="0" err="1">
                <a:latin typeface="Calisto MT"/>
              </a:rPr>
              <a:t>fondamentale</a:t>
            </a:r>
            <a:r>
              <a:rPr lang="en-US" sz="2800" dirty="0">
                <a:latin typeface="Calisto MT"/>
              </a:rPr>
              <a:t> de </a:t>
            </a:r>
            <a:r>
              <a:rPr lang="en-US" sz="2800" b="1" dirty="0">
                <a:latin typeface="Calisto MT"/>
              </a:rPr>
              <a:t>Python</a:t>
            </a:r>
            <a:r>
              <a:rPr lang="en-US" sz="2800" dirty="0">
                <a:latin typeface="Calisto MT"/>
              </a:rPr>
              <a:t> </a:t>
            </a:r>
            <a:r>
              <a:rPr lang="en-US" sz="2800" dirty="0" err="1">
                <a:latin typeface="Calisto MT"/>
              </a:rPr>
              <a:t>utilisée</a:t>
            </a:r>
            <a:r>
              <a:rPr lang="en-US" sz="2800" dirty="0">
                <a:latin typeface="Calisto MT"/>
              </a:rPr>
              <a:t> pour le </a:t>
            </a:r>
            <a:r>
              <a:rPr lang="en-US" sz="2800" b="1" dirty="0" err="1">
                <a:latin typeface="Calisto MT"/>
              </a:rPr>
              <a:t>calcul</a:t>
            </a:r>
            <a:r>
              <a:rPr lang="en-US" sz="2800" b="1" dirty="0">
                <a:latin typeface="Calisto MT"/>
              </a:rPr>
              <a:t> </a:t>
            </a:r>
            <a:r>
              <a:rPr lang="en-US" sz="2800" b="1" dirty="0" err="1">
                <a:latin typeface="Calisto MT"/>
              </a:rPr>
              <a:t>scientifique</a:t>
            </a:r>
            <a:r>
              <a:rPr lang="en-US" sz="2800" b="1" dirty="0">
                <a:latin typeface="Calisto MT"/>
              </a:rPr>
              <a:t> et </a:t>
            </a:r>
            <a:r>
              <a:rPr lang="en-US" sz="2800" b="1" dirty="0" err="1">
                <a:latin typeface="Calisto MT"/>
              </a:rPr>
              <a:t>numérique</a:t>
            </a:r>
            <a:r>
              <a:rPr lang="en-US" sz="2800" dirty="0" err="1">
                <a:latin typeface="Calisto MT"/>
              </a:rPr>
              <a:t>.Elle</a:t>
            </a:r>
            <a:r>
              <a:rPr lang="en-US" sz="2800" dirty="0">
                <a:latin typeface="Calisto MT"/>
              </a:rPr>
              <a:t> </a:t>
            </a:r>
            <a:r>
              <a:rPr lang="en-US" sz="2800" dirty="0" err="1">
                <a:latin typeface="Calisto MT"/>
              </a:rPr>
              <a:t>permet</a:t>
            </a:r>
            <a:r>
              <a:rPr lang="en-US" sz="2800" dirty="0">
                <a:latin typeface="Calisto MT"/>
              </a:rPr>
              <a:t> de </a:t>
            </a:r>
            <a:r>
              <a:rPr lang="en-US" sz="2800" dirty="0" err="1">
                <a:latin typeface="Calisto MT"/>
              </a:rPr>
              <a:t>manipuler</a:t>
            </a:r>
            <a:r>
              <a:rPr lang="en-US" sz="2800" dirty="0">
                <a:latin typeface="Calisto MT"/>
              </a:rPr>
              <a:t> des </a:t>
            </a:r>
            <a:r>
              <a:rPr lang="en-US" sz="2800" b="1" dirty="0">
                <a:latin typeface="Calisto MT"/>
              </a:rPr>
              <a:t>tableaux </a:t>
            </a:r>
            <a:r>
              <a:rPr lang="en-US" sz="2800" b="1" dirty="0" err="1">
                <a:latin typeface="Calisto MT"/>
              </a:rPr>
              <a:t>multidimensionnels</a:t>
            </a:r>
            <a:r>
              <a:rPr lang="en-US" sz="2800" b="1" dirty="0">
                <a:latin typeface="Calisto MT"/>
              </a:rPr>
              <a:t> (arrays)</a:t>
            </a:r>
            <a:r>
              <a:rPr lang="en-US" sz="2800" dirty="0">
                <a:latin typeface="Calisto MT"/>
              </a:rPr>
              <a:t> et </a:t>
            </a:r>
            <a:r>
              <a:rPr lang="en-US" sz="2800" dirty="0" err="1">
                <a:latin typeface="Calisto MT"/>
              </a:rPr>
              <a:t>d’effectuer</a:t>
            </a:r>
            <a:r>
              <a:rPr lang="en-US" sz="2800" dirty="0">
                <a:latin typeface="Calisto MT"/>
              </a:rPr>
              <a:t> des </a:t>
            </a:r>
            <a:r>
              <a:rPr lang="en-US" sz="2800" dirty="0" err="1">
                <a:latin typeface="Calisto MT"/>
              </a:rPr>
              <a:t>calculs</a:t>
            </a:r>
            <a:r>
              <a:rPr lang="en-US" sz="2800" dirty="0">
                <a:latin typeface="Calisto MT"/>
              </a:rPr>
              <a:t> </a:t>
            </a:r>
            <a:r>
              <a:rPr lang="en-US" sz="2800" dirty="0" err="1">
                <a:latin typeface="Calisto MT"/>
              </a:rPr>
              <a:t>mathématiques</a:t>
            </a:r>
            <a:r>
              <a:rPr lang="en-US" sz="2800" dirty="0">
                <a:latin typeface="Calisto MT"/>
              </a:rPr>
              <a:t> </a:t>
            </a:r>
            <a:r>
              <a:rPr lang="en-US" sz="2800" dirty="0" err="1">
                <a:latin typeface="Calisto MT"/>
              </a:rPr>
              <a:t>rapides</a:t>
            </a:r>
            <a:r>
              <a:rPr lang="en-US" sz="2800" dirty="0">
                <a:latin typeface="Calisto MT"/>
              </a:rPr>
              <a:t> et </a:t>
            </a:r>
            <a:r>
              <a:rPr lang="en-US" sz="2800" dirty="0" err="1">
                <a:latin typeface="Calisto MT"/>
              </a:rPr>
              <a:t>efficaces</a:t>
            </a:r>
            <a:r>
              <a:rPr lang="en-US" sz="2800" dirty="0">
                <a:latin typeface="Calisto MT"/>
              </a:rPr>
              <a:t>.</a:t>
            </a:r>
          </a:p>
          <a:p>
            <a:pPr>
              <a:lnSpc>
                <a:spcPct val="90000"/>
              </a:lnSpc>
            </a:pPr>
            <a:r>
              <a:rPr lang="en-US" sz="2800" b="1" dirty="0" err="1">
                <a:latin typeface="Calisto MT"/>
              </a:rPr>
              <a:t>Principales</a:t>
            </a:r>
            <a:r>
              <a:rPr lang="en-US" sz="2800" b="1" dirty="0">
                <a:latin typeface="Calisto MT"/>
              </a:rPr>
              <a:t> </a:t>
            </a:r>
            <a:r>
              <a:rPr lang="en-US" sz="2800" b="1" dirty="0" err="1">
                <a:latin typeface="Calisto MT"/>
              </a:rPr>
              <a:t>caractéristiques</a:t>
            </a:r>
            <a:r>
              <a:rPr lang="en-US" sz="2800" b="1" dirty="0">
                <a:latin typeface="Calisto MT"/>
              </a:rPr>
              <a:t> de </a:t>
            </a:r>
            <a:r>
              <a:rPr lang="en-US" sz="2800" b="1" dirty="0" err="1">
                <a:latin typeface="Calisto MT"/>
              </a:rPr>
              <a:t>NumPy</a:t>
            </a:r>
            <a:r>
              <a:rPr lang="en-US" sz="2800" b="1" dirty="0">
                <a:latin typeface="Calisto MT"/>
              </a:rPr>
              <a:t> :</a:t>
            </a:r>
            <a:br>
              <a:rPr lang="en-US" sz="2800" b="1" dirty="0">
                <a:latin typeface="Calisto MT"/>
              </a:rPr>
            </a:br>
            <a:endParaRPr lang="en-US" sz="2800" b="1" dirty="0">
              <a:latin typeface="Calisto MT"/>
            </a:endParaRPr>
          </a:p>
          <a:p>
            <a:pPr>
              <a:lnSpc>
                <a:spcPct val="90000"/>
              </a:lnSpc>
            </a:pPr>
            <a:r>
              <a:rPr lang="en-US" sz="2800" dirty="0">
                <a:latin typeface="Calisto MT"/>
              </a:rPr>
              <a:t>1️⃣ </a:t>
            </a:r>
            <a:r>
              <a:rPr lang="en-US" sz="2800" b="1" dirty="0">
                <a:latin typeface="Calisto MT"/>
              </a:rPr>
              <a:t>Array </a:t>
            </a:r>
            <a:r>
              <a:rPr lang="en-US" sz="2800" dirty="0">
                <a:latin typeface="Calisto MT"/>
              </a:rPr>
              <a:t/>
            </a:r>
            <a:br>
              <a:rPr lang="en-US" sz="2800" dirty="0">
                <a:latin typeface="Calisto MT"/>
              </a:rPr>
            </a:br>
            <a:r>
              <a:rPr lang="en-US" sz="2800" dirty="0">
                <a:latin typeface="Calisto MT"/>
              </a:rPr>
              <a:t>Structure de </a:t>
            </a:r>
            <a:r>
              <a:rPr lang="en-US" sz="2800" dirty="0" err="1">
                <a:latin typeface="Calisto MT"/>
              </a:rPr>
              <a:t>données</a:t>
            </a:r>
            <a:r>
              <a:rPr lang="en-US" sz="2800" dirty="0">
                <a:latin typeface="Calisto MT"/>
              </a:rPr>
              <a:t> </a:t>
            </a:r>
            <a:r>
              <a:rPr lang="en-US" sz="2800" dirty="0" err="1">
                <a:latin typeface="Calisto MT"/>
              </a:rPr>
              <a:t>principale</a:t>
            </a:r>
            <a:r>
              <a:rPr lang="en-US" sz="2800" dirty="0">
                <a:latin typeface="Calisto MT"/>
              </a:rPr>
              <a:t> de </a:t>
            </a:r>
            <a:r>
              <a:rPr lang="en-US" sz="2800" dirty="0" err="1">
                <a:latin typeface="Calisto MT"/>
              </a:rPr>
              <a:t>NumPy</a:t>
            </a:r>
            <a:r>
              <a:rPr lang="en-US" sz="2800" dirty="0">
                <a:latin typeface="Calisto MT"/>
              </a:rPr>
              <a:t>.</a:t>
            </a:r>
            <a:br>
              <a:rPr lang="en-US" sz="2800" dirty="0">
                <a:latin typeface="Calisto MT"/>
              </a:rPr>
            </a:br>
            <a:r>
              <a:rPr lang="en-US" sz="2800" dirty="0" err="1">
                <a:latin typeface="Calisto MT"/>
              </a:rPr>
              <a:t>C’est</a:t>
            </a:r>
            <a:r>
              <a:rPr lang="en-US" sz="2800" dirty="0">
                <a:latin typeface="Calisto MT"/>
              </a:rPr>
              <a:t> un tableau plus </a:t>
            </a:r>
            <a:r>
              <a:rPr lang="en-US" sz="2800" dirty="0" err="1">
                <a:latin typeface="Calisto MT"/>
              </a:rPr>
              <a:t>rapide</a:t>
            </a:r>
            <a:r>
              <a:rPr lang="en-US" sz="2800" dirty="0">
                <a:latin typeface="Calisto MT"/>
              </a:rPr>
              <a:t> et plus performant </a:t>
            </a:r>
            <a:r>
              <a:rPr lang="en-US" sz="2800" dirty="0" err="1">
                <a:latin typeface="Calisto MT"/>
              </a:rPr>
              <a:t>qu’une</a:t>
            </a:r>
            <a:r>
              <a:rPr lang="en-US" sz="2800" dirty="0">
                <a:latin typeface="Calisto MT"/>
              </a:rPr>
              <a:t> </a:t>
            </a:r>
            <a:r>
              <a:rPr lang="en-US" sz="2800" dirty="0" err="1">
                <a:latin typeface="Calisto MT"/>
              </a:rPr>
              <a:t>liste</a:t>
            </a:r>
            <a:r>
              <a:rPr lang="en-US" sz="2800" dirty="0">
                <a:latin typeface="Calisto MT"/>
              </a:rPr>
              <a:t> Python </a:t>
            </a:r>
            <a:r>
              <a:rPr lang="en-US" sz="2800" dirty="0" err="1">
                <a:latin typeface="Calisto MT"/>
              </a:rPr>
              <a:t>classique</a:t>
            </a:r>
            <a:r>
              <a:rPr lang="en-US" sz="2800" dirty="0">
                <a:latin typeface="Calisto MT"/>
              </a:rPr>
              <a:t>.</a:t>
            </a:r>
          </a:p>
          <a:p>
            <a:pPr>
              <a:lnSpc>
                <a:spcPct val="90000"/>
              </a:lnSpc>
            </a:pPr>
            <a:r>
              <a:rPr lang="en-US" sz="2800" dirty="0">
                <a:latin typeface="Calisto MT"/>
              </a:rPr>
              <a:t>2️⃣ </a:t>
            </a:r>
            <a:r>
              <a:rPr lang="en-US" sz="2800" b="1" dirty="0" err="1">
                <a:latin typeface="Calisto MT"/>
              </a:rPr>
              <a:t>Calculs</a:t>
            </a:r>
            <a:r>
              <a:rPr lang="en-US" sz="2800" b="1" dirty="0">
                <a:latin typeface="Calisto MT"/>
              </a:rPr>
              <a:t> </a:t>
            </a:r>
            <a:r>
              <a:rPr lang="en-US" sz="2800" b="1" dirty="0" err="1">
                <a:latin typeface="Calisto MT"/>
              </a:rPr>
              <a:t>mathématiques</a:t>
            </a:r>
            <a:r>
              <a:rPr lang="en-US" sz="2800" b="1" dirty="0">
                <a:latin typeface="Calisto MT"/>
              </a:rPr>
              <a:t> </a:t>
            </a:r>
            <a:r>
              <a:rPr lang="en-US" sz="2800" dirty="0">
                <a:latin typeface="Calisto MT"/>
              </a:rPr>
              <a:t/>
            </a:r>
            <a:br>
              <a:rPr lang="en-US" sz="2800" dirty="0">
                <a:latin typeface="Calisto MT"/>
              </a:rPr>
            </a:br>
            <a:r>
              <a:rPr lang="en-US" sz="2800" dirty="0" err="1">
                <a:latin typeface="Calisto MT"/>
              </a:rPr>
              <a:t>Opérations</a:t>
            </a:r>
            <a:r>
              <a:rPr lang="en-US" sz="2800" dirty="0">
                <a:latin typeface="Calisto MT"/>
              </a:rPr>
              <a:t> </a:t>
            </a:r>
            <a:r>
              <a:rPr lang="en-US" sz="2800" dirty="0" err="1">
                <a:latin typeface="Calisto MT"/>
              </a:rPr>
              <a:t>vectorisées</a:t>
            </a:r>
            <a:r>
              <a:rPr lang="en-US" sz="2800" dirty="0">
                <a:latin typeface="Calisto MT"/>
              </a:rPr>
              <a:t> (addition, multiplication, </a:t>
            </a:r>
            <a:r>
              <a:rPr lang="en-US" sz="2800" dirty="0" err="1">
                <a:latin typeface="Calisto MT"/>
              </a:rPr>
              <a:t>moyenne</a:t>
            </a:r>
            <a:r>
              <a:rPr lang="en-US" sz="2800" dirty="0">
                <a:latin typeface="Calisto MT"/>
              </a:rPr>
              <a:t>, etc.) beaucoup plus </a:t>
            </a:r>
            <a:r>
              <a:rPr lang="en-US" sz="2800" dirty="0" err="1">
                <a:latin typeface="Calisto MT"/>
              </a:rPr>
              <a:t>rapides</a:t>
            </a:r>
            <a:r>
              <a:rPr lang="en-US" sz="2800" dirty="0">
                <a:latin typeface="Calisto MT"/>
              </a:rPr>
              <a:t> que les </a:t>
            </a:r>
            <a:r>
              <a:rPr lang="en-US" sz="2800" dirty="0" err="1">
                <a:latin typeface="Calisto MT"/>
              </a:rPr>
              <a:t>boucles</a:t>
            </a:r>
            <a:r>
              <a:rPr lang="en-US" sz="2800" dirty="0">
                <a:latin typeface="Calisto MT"/>
              </a:rPr>
              <a:t> </a:t>
            </a:r>
            <a:r>
              <a:rPr lang="en-US" sz="2800" dirty="0" err="1">
                <a:latin typeface="Calisto MT"/>
              </a:rPr>
              <a:t>classiques</a:t>
            </a:r>
            <a:r>
              <a:rPr lang="en-US" sz="2800" dirty="0"/>
              <a:t>.</a:t>
            </a:r>
          </a:p>
        </p:txBody>
      </p:sp>
      <p:cxnSp>
        <p:nvCxnSpPr>
          <p:cNvPr id="9" name="Straight Connector 8">
            <a:extLst>
              <a:ext uri="{FF2B5EF4-FFF2-40B4-BE49-F238E27FC236}">
                <a16:creationId xmlns:a16="http://schemas.microsoft.com/office/drawing/2014/main" id="{9CA98CE3-81A7-4FFE-A047-9AA65998D87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8D91C2B-BDB9-49BE-9C44-E0CFE597ABF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6100123"/>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68562B-684D-CE7A-919A-2CFE89DA69FA}"/>
              </a:ext>
            </a:extLst>
          </p:cNvPr>
          <p:cNvSpPr>
            <a:spLocks noGrp="1"/>
          </p:cNvSpPr>
          <p:nvPr>
            <p:ph type="ctrTitle"/>
          </p:nvPr>
        </p:nvSpPr>
        <p:spPr>
          <a:xfrm>
            <a:off x="695324" y="871758"/>
            <a:ext cx="10283452" cy="3871143"/>
          </a:xfrm>
        </p:spPr>
        <p:txBody>
          <a:bodyPr>
            <a:normAutofit/>
          </a:bodyPr>
          <a:lstStyle/>
          <a:p>
            <a:pPr>
              <a:lnSpc>
                <a:spcPct val="90000"/>
              </a:lnSpc>
            </a:pPr>
            <a:r>
              <a:rPr lang="en-US" sz="2500"/>
              <a:t>3️⃣ </a:t>
            </a:r>
            <a:r>
              <a:rPr lang="en-US" sz="2500" b="1" err="1"/>
              <a:t>Fonctions</a:t>
            </a:r>
            <a:r>
              <a:rPr lang="en-US" sz="2500" b="1"/>
              <a:t> </a:t>
            </a:r>
            <a:r>
              <a:rPr lang="en-US" sz="2500" b="1" err="1"/>
              <a:t>mathématiques</a:t>
            </a:r>
            <a:r>
              <a:rPr lang="en-US" sz="2500" b="1"/>
              <a:t> </a:t>
            </a:r>
            <a:r>
              <a:rPr lang="en-US" sz="2500" b="1" err="1"/>
              <a:t>avancées</a:t>
            </a:r>
            <a:r>
              <a:rPr lang="en-US" sz="2500" b="1"/>
              <a:t/>
            </a:r>
            <a:br>
              <a:rPr lang="en-US" sz="2500" b="1"/>
            </a:br>
            <a:r>
              <a:rPr lang="en-US" sz="2500" b="1" err="1"/>
              <a:t>Algèbre</a:t>
            </a:r>
            <a:r>
              <a:rPr lang="en-US" sz="2500"/>
              <a:t> </a:t>
            </a:r>
            <a:r>
              <a:rPr lang="en-US" sz="2500" err="1"/>
              <a:t>linéaire</a:t>
            </a:r>
            <a:r>
              <a:rPr lang="en-US" sz="2500"/>
              <a:t>, </a:t>
            </a:r>
            <a:r>
              <a:rPr lang="en-US" sz="2500" err="1"/>
              <a:t>statistiques</a:t>
            </a:r>
            <a:r>
              <a:rPr lang="en-US" sz="2500"/>
              <a:t>, </a:t>
            </a:r>
            <a:r>
              <a:rPr lang="en-US" sz="2500" err="1"/>
              <a:t>trigonométrie</a:t>
            </a:r>
            <a:r>
              <a:rPr lang="en-US" sz="2500"/>
              <a:t>, matrices, etc.</a:t>
            </a:r>
          </a:p>
          <a:p>
            <a:pPr>
              <a:lnSpc>
                <a:spcPct val="90000"/>
              </a:lnSpc>
            </a:pPr>
            <a:r>
              <a:rPr lang="en-US" sz="2500"/>
              <a:t>4️⃣ </a:t>
            </a:r>
            <a:r>
              <a:rPr lang="en-US" sz="2500" b="1"/>
              <a:t>Base des bibliothèques Data Science</a:t>
            </a:r>
            <a:br>
              <a:rPr lang="en-US" sz="2500" b="1"/>
            </a:br>
            <a:r>
              <a:rPr lang="en-US" sz="2500" b="1"/>
              <a:t>Des bibliothèques </a:t>
            </a:r>
            <a:r>
              <a:rPr lang="en-US" sz="2500" err="1"/>
              <a:t>comme</a:t>
            </a:r>
            <a:r>
              <a:rPr lang="en-US" sz="2500"/>
              <a:t> </a:t>
            </a:r>
            <a:r>
              <a:rPr lang="en-US" sz="2500" b="1"/>
              <a:t>pandas</a:t>
            </a:r>
            <a:r>
              <a:rPr lang="en-US" sz="2500"/>
              <a:t>, </a:t>
            </a:r>
            <a:r>
              <a:rPr lang="en-US" sz="2500" b="1"/>
              <a:t>scikit-learn</a:t>
            </a:r>
            <a:r>
              <a:rPr lang="en-US" sz="2500"/>
              <a:t> et </a:t>
            </a:r>
            <a:r>
              <a:rPr lang="en-US" sz="2500" b="1"/>
              <a:t>matplotlib</a:t>
            </a:r>
            <a:r>
              <a:rPr lang="en-US" sz="2500"/>
              <a:t> </a:t>
            </a:r>
            <a:r>
              <a:rPr lang="en-US" sz="2500" err="1"/>
              <a:t>utilisent</a:t>
            </a:r>
            <a:r>
              <a:rPr lang="en-US" sz="2500"/>
              <a:t> NumPy </a:t>
            </a:r>
            <a:r>
              <a:rPr lang="en-US" sz="2500" err="1"/>
              <a:t>en</a:t>
            </a:r>
            <a:r>
              <a:rPr lang="en-US" sz="2500"/>
              <a:t> arrière-plan.</a:t>
            </a:r>
          </a:p>
          <a:p>
            <a:pPr>
              <a:lnSpc>
                <a:spcPct val="90000"/>
              </a:lnSpc>
            </a:pPr>
            <a:endParaRPr lang="en-US" sz="3600"/>
          </a:p>
        </p:txBody>
      </p:sp>
      <p:cxnSp>
        <p:nvCxnSpPr>
          <p:cNvPr id="9" name="Straight Connector 8">
            <a:extLst>
              <a:ext uri="{FF2B5EF4-FFF2-40B4-BE49-F238E27FC236}">
                <a16:creationId xmlns:a16="http://schemas.microsoft.com/office/drawing/2014/main" id="{9CA98CE3-81A7-4FFE-A047-9AA65998D87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8D91C2B-BDB9-49BE-9C44-E0CFE597ABF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9900847"/>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0EAE89-B0A5-CB1C-69FD-9A521BDFB5C9}"/>
              </a:ext>
            </a:extLst>
          </p:cNvPr>
          <p:cNvSpPr>
            <a:spLocks noGrp="1"/>
          </p:cNvSpPr>
          <p:nvPr>
            <p:ph type="ctrTitle"/>
          </p:nvPr>
        </p:nvSpPr>
        <p:spPr>
          <a:xfrm>
            <a:off x="804182" y="-1978040"/>
            <a:ext cx="8884104" cy="3269590"/>
          </a:xfrm>
        </p:spPr>
        <p:txBody>
          <a:bodyPr anchor="b">
            <a:normAutofit/>
          </a:bodyPr>
          <a:lstStyle/>
          <a:p>
            <a:r>
              <a:rPr lang="en-US" sz="3200" b="1" err="1">
                <a:solidFill>
                  <a:srgbClr val="FFFF00"/>
                </a:solidFill>
                <a:ea typeface="+mj-lt"/>
                <a:cs typeface="+mj-lt"/>
              </a:rPr>
              <a:t>Nettoyage</a:t>
            </a:r>
            <a:r>
              <a:rPr lang="en-US" sz="3200" b="1">
                <a:solidFill>
                  <a:srgbClr val="FFFF00"/>
                </a:solidFill>
                <a:ea typeface="+mj-lt"/>
                <a:cs typeface="+mj-lt"/>
              </a:rPr>
              <a:t> des données (Data Cleaning)</a:t>
            </a:r>
          </a:p>
        </p:txBody>
      </p:sp>
      <p:cxnSp>
        <p:nvCxnSpPr>
          <p:cNvPr id="9" name="Straight Connector 8">
            <a:extLst>
              <a:ext uri="{FF2B5EF4-FFF2-40B4-BE49-F238E27FC236}">
                <a16:creationId xmlns:a16="http://schemas.microsoft.com/office/drawing/2014/main" id="{9CA98CE3-81A7-4FFE-A047-9AA65998D87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8D91C2B-BDB9-49BE-9C44-E0CFE597ABF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8B93A75-3BA2-BA6A-BF1E-7A2506D313FD}"/>
              </a:ext>
            </a:extLst>
          </p:cNvPr>
          <p:cNvSpPr txBox="1"/>
          <p:nvPr/>
        </p:nvSpPr>
        <p:spPr>
          <a:xfrm>
            <a:off x="639536" y="1442357"/>
            <a:ext cx="10368642"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Le </a:t>
            </a:r>
            <a:r>
              <a:rPr lang="en-US" sz="2400" err="1"/>
              <a:t>nettoyage</a:t>
            </a:r>
            <a:r>
              <a:rPr lang="en-US" sz="2400"/>
              <a:t> vise à </a:t>
            </a:r>
            <a:r>
              <a:rPr lang="en-US" sz="2400" b="1" err="1"/>
              <a:t>corriger</a:t>
            </a:r>
            <a:r>
              <a:rPr lang="en-US" sz="2400" b="1"/>
              <a:t> </a:t>
            </a:r>
            <a:r>
              <a:rPr lang="en-US" sz="2400" b="1" err="1"/>
              <a:t>ou</a:t>
            </a:r>
            <a:r>
              <a:rPr lang="en-US" sz="2400" b="1"/>
              <a:t> </a:t>
            </a:r>
            <a:r>
              <a:rPr lang="en-US" sz="2400" b="1" err="1"/>
              <a:t>supprimer</a:t>
            </a:r>
            <a:r>
              <a:rPr lang="en-US" sz="2400" b="1"/>
              <a:t> les </a:t>
            </a:r>
            <a:r>
              <a:rPr lang="en-US" sz="2400" b="1" err="1"/>
              <a:t>erreurs</a:t>
            </a:r>
            <a:r>
              <a:rPr lang="en-US" sz="2400" b="1"/>
              <a:t> et </a:t>
            </a:r>
            <a:r>
              <a:rPr lang="en-US" sz="2400" b="1" err="1"/>
              <a:t>incohérences</a:t>
            </a:r>
            <a:r>
              <a:rPr lang="en-US" sz="2400"/>
              <a:t> dans les données.</a:t>
            </a:r>
          </a:p>
          <a:p>
            <a:r>
              <a:rPr lang="en-US" sz="2400" b="1" err="1"/>
              <a:t>Principales</a:t>
            </a:r>
            <a:r>
              <a:rPr lang="en-US" sz="2400" b="1"/>
              <a:t> </a:t>
            </a:r>
            <a:r>
              <a:rPr lang="en-US" sz="2400" b="1" err="1"/>
              <a:t>tâches</a:t>
            </a:r>
            <a:r>
              <a:rPr lang="en-US" sz="2400" b="1"/>
              <a:t> :</a:t>
            </a:r>
          </a:p>
          <a:p>
            <a:pPr marL="228600" indent="-228600">
              <a:buFont typeface=""/>
              <a:buChar char="•"/>
            </a:pPr>
            <a:r>
              <a:rPr lang="en-US" sz="2400" b="1"/>
              <a:t>Suppression des </a:t>
            </a:r>
            <a:r>
              <a:rPr lang="en-US" sz="2400" b="1" err="1"/>
              <a:t>doublons</a:t>
            </a:r>
            <a:r>
              <a:rPr lang="en-US" sz="2400"/>
              <a:t> : </a:t>
            </a:r>
            <a:r>
              <a:rPr lang="en-US" sz="2400" err="1"/>
              <a:t>retirer</a:t>
            </a:r>
            <a:r>
              <a:rPr lang="en-US" sz="2400"/>
              <a:t> les </a:t>
            </a:r>
            <a:r>
              <a:rPr lang="en-US" sz="2400" err="1"/>
              <a:t>lignes</a:t>
            </a:r>
            <a:r>
              <a:rPr lang="en-US" sz="2400"/>
              <a:t> </a:t>
            </a:r>
            <a:r>
              <a:rPr lang="en-US" sz="2400" err="1"/>
              <a:t>répétées</a:t>
            </a:r>
            <a:r>
              <a:rPr lang="en-US" sz="2400"/>
              <a:t> qui </a:t>
            </a:r>
            <a:r>
              <a:rPr lang="en-US" sz="2400" err="1"/>
              <a:t>pourraient</a:t>
            </a:r>
            <a:r>
              <a:rPr lang="en-US" sz="2400"/>
              <a:t> </a:t>
            </a:r>
            <a:r>
              <a:rPr lang="en-US" sz="2400" err="1"/>
              <a:t>fausser</a:t>
            </a:r>
            <a:r>
              <a:rPr lang="en-US" sz="2400"/>
              <a:t> les analyses.</a:t>
            </a:r>
          </a:p>
          <a:p>
            <a:pPr marL="228600" indent="-228600">
              <a:buFont typeface=""/>
              <a:buChar char="•"/>
            </a:pPr>
            <a:endParaRPr lang="en-US" sz="2400"/>
          </a:p>
          <a:p>
            <a:pPr algn="ctr"/>
            <a:endParaRPr lang="en-US"/>
          </a:p>
        </p:txBody>
      </p:sp>
      <p:pic>
        <p:nvPicPr>
          <p:cNvPr id="6" name="Picture 5" descr="A black screen with white text&#10;&#10;AI-generated content may be incorrect.">
            <a:extLst>
              <a:ext uri="{FF2B5EF4-FFF2-40B4-BE49-F238E27FC236}">
                <a16:creationId xmlns:a16="http://schemas.microsoft.com/office/drawing/2014/main" id="{689636E2-5784-CDC6-6B6A-7DA661F1B325}"/>
              </a:ext>
            </a:extLst>
          </p:cNvPr>
          <p:cNvPicPr>
            <a:picLocks noChangeAspect="1"/>
          </p:cNvPicPr>
          <p:nvPr/>
        </p:nvPicPr>
        <p:blipFill>
          <a:blip r:embed="rId2"/>
          <a:stretch>
            <a:fillRect/>
          </a:stretch>
        </p:blipFill>
        <p:spPr>
          <a:xfrm>
            <a:off x="1426997" y="4351589"/>
            <a:ext cx="6048375" cy="1266825"/>
          </a:xfrm>
          <a:prstGeom prst="rect">
            <a:avLst/>
          </a:prstGeom>
        </p:spPr>
      </p:pic>
      <p:sp>
        <p:nvSpPr>
          <p:cNvPr id="8" name="TextBox 7">
            <a:extLst>
              <a:ext uri="{FF2B5EF4-FFF2-40B4-BE49-F238E27FC236}">
                <a16:creationId xmlns:a16="http://schemas.microsoft.com/office/drawing/2014/main" id="{952BBCF6-93FC-674C-A955-5A1DED69599A}"/>
              </a:ext>
            </a:extLst>
          </p:cNvPr>
          <p:cNvSpPr txBox="1"/>
          <p:nvPr/>
        </p:nvSpPr>
        <p:spPr>
          <a:xfrm>
            <a:off x="1376516" y="3576484"/>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Nous téléchargeons les données à partir du fichier housing.csv</a:t>
            </a:r>
          </a:p>
          <a:p>
            <a:pPr algn="ctr"/>
            <a:endParaRPr lang="en-US"/>
          </a:p>
        </p:txBody>
      </p:sp>
    </p:spTree>
    <p:extLst>
      <p:ext uri="{BB962C8B-B14F-4D97-AF65-F5344CB8AC3E}">
        <p14:creationId xmlns:p14="http://schemas.microsoft.com/office/powerpoint/2010/main" val="3693863814"/>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F92653-5D6D-47E6-8744-0DAF76E049C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FBEC50-B41F-1432-CE3F-54D05B85738B}"/>
              </a:ext>
            </a:extLst>
          </p:cNvPr>
          <p:cNvSpPr>
            <a:spLocks noGrp="1"/>
          </p:cNvSpPr>
          <p:nvPr>
            <p:ph type="ctrTitle"/>
          </p:nvPr>
        </p:nvSpPr>
        <p:spPr>
          <a:xfrm>
            <a:off x="769065" y="859468"/>
            <a:ext cx="10209711" cy="1400788"/>
          </a:xfrm>
        </p:spPr>
        <p:txBody>
          <a:bodyPr>
            <a:normAutofit/>
          </a:bodyPr>
          <a:lstStyle/>
          <a:p>
            <a:r>
              <a:rPr lang="en-US" sz="1800">
                <a:ea typeface="+mj-lt"/>
                <a:cs typeface="+mj-lt"/>
              </a:rPr>
              <a:t>Une </a:t>
            </a:r>
            <a:r>
              <a:rPr lang="en-US" sz="1800" err="1">
                <a:ea typeface="+mj-lt"/>
                <a:cs typeface="+mj-lt"/>
              </a:rPr>
              <a:t>vérification</a:t>
            </a:r>
            <a:r>
              <a:rPr lang="en-US" sz="1800">
                <a:ea typeface="+mj-lt"/>
                <a:cs typeface="+mj-lt"/>
              </a:rPr>
              <a:t> des </a:t>
            </a:r>
            <a:r>
              <a:rPr lang="en-US" sz="1800" err="1">
                <a:ea typeface="+mj-lt"/>
                <a:cs typeface="+mj-lt"/>
              </a:rPr>
              <a:t>doublons</a:t>
            </a:r>
            <a:r>
              <a:rPr lang="en-US" sz="1800">
                <a:ea typeface="+mj-lt"/>
                <a:cs typeface="+mj-lt"/>
              </a:rPr>
              <a:t> est </a:t>
            </a:r>
            <a:r>
              <a:rPr lang="en-US" sz="1800" err="1">
                <a:ea typeface="+mj-lt"/>
                <a:cs typeface="+mj-lt"/>
              </a:rPr>
              <a:t>effectuée</a:t>
            </a:r>
            <a:r>
              <a:rPr lang="en-US" sz="1800">
                <a:ea typeface="+mj-lt"/>
                <a:cs typeface="+mj-lt"/>
              </a:rPr>
              <a:t> </a:t>
            </a:r>
            <a:r>
              <a:rPr lang="en-US" sz="1800" err="1">
                <a:ea typeface="+mj-lt"/>
                <a:cs typeface="+mj-lt"/>
              </a:rPr>
              <a:t>afin</a:t>
            </a:r>
            <a:r>
              <a:rPr lang="en-US" sz="1800">
                <a:ea typeface="+mj-lt"/>
                <a:cs typeface="+mj-lt"/>
              </a:rPr>
              <a:t> </a:t>
            </a:r>
            <a:r>
              <a:rPr lang="en-US" sz="1800" err="1">
                <a:ea typeface="+mj-lt"/>
                <a:cs typeface="+mj-lt"/>
              </a:rPr>
              <a:t>d’identifier</a:t>
            </a:r>
            <a:r>
              <a:rPr lang="en-US" sz="1800">
                <a:ea typeface="+mj-lt"/>
                <a:cs typeface="+mj-lt"/>
              </a:rPr>
              <a:t> les </a:t>
            </a:r>
            <a:r>
              <a:rPr lang="en-US" sz="1800" err="1">
                <a:ea typeface="+mj-lt"/>
                <a:cs typeface="+mj-lt"/>
              </a:rPr>
              <a:t>lignes</a:t>
            </a:r>
            <a:r>
              <a:rPr lang="en-US" sz="1800">
                <a:ea typeface="+mj-lt"/>
                <a:cs typeface="+mj-lt"/>
              </a:rPr>
              <a:t/>
            </a:r>
            <a:br>
              <a:rPr lang="en-US" sz="1800">
                <a:ea typeface="+mj-lt"/>
                <a:cs typeface="+mj-lt"/>
              </a:rPr>
            </a:br>
            <a:r>
              <a:rPr lang="en-US" sz="1800" err="1">
                <a:ea typeface="+mj-lt"/>
                <a:cs typeface="+mj-lt"/>
              </a:rPr>
              <a:t>répétées</a:t>
            </a:r>
            <a:r>
              <a:rPr lang="en-US" sz="1800">
                <a:ea typeface="+mj-lt"/>
                <a:cs typeface="+mj-lt"/>
              </a:rPr>
              <a:t> dans les données</a:t>
            </a:r>
            <a:r>
              <a:rPr lang="en-US" sz="4800">
                <a:ea typeface="+mj-lt"/>
                <a:cs typeface="+mj-lt"/>
              </a:rPr>
              <a:t>.</a:t>
            </a:r>
            <a:endParaRPr lang="en-US" sz="4800"/>
          </a:p>
        </p:txBody>
      </p:sp>
      <p:cxnSp>
        <p:nvCxnSpPr>
          <p:cNvPr id="10" name="Straight Connector 9">
            <a:extLst>
              <a:ext uri="{FF2B5EF4-FFF2-40B4-BE49-F238E27FC236}">
                <a16:creationId xmlns:a16="http://schemas.microsoft.com/office/drawing/2014/main" id="{9CA98CE3-81A7-4FFE-A047-9AA65998D87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8D91C2B-BDB9-49BE-9C44-E0CFE597ABF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screen shot of a computer&#10;&#10;AI-generated content may be incorrect.">
            <a:extLst>
              <a:ext uri="{FF2B5EF4-FFF2-40B4-BE49-F238E27FC236}">
                <a16:creationId xmlns:a16="http://schemas.microsoft.com/office/drawing/2014/main" id="{BEC55E82-5FDB-C9EE-A3B2-26970E0087E1}"/>
              </a:ext>
            </a:extLst>
          </p:cNvPr>
          <p:cNvPicPr>
            <a:picLocks noChangeAspect="1"/>
          </p:cNvPicPr>
          <p:nvPr/>
        </p:nvPicPr>
        <p:blipFill>
          <a:blip r:embed="rId2"/>
          <a:stretch>
            <a:fillRect/>
          </a:stretch>
        </p:blipFill>
        <p:spPr>
          <a:xfrm>
            <a:off x="4166115" y="1431816"/>
            <a:ext cx="6810375" cy="1657350"/>
          </a:xfrm>
          <a:prstGeom prst="rect">
            <a:avLst/>
          </a:prstGeom>
        </p:spPr>
      </p:pic>
      <p:sp>
        <p:nvSpPr>
          <p:cNvPr id="6" name="TextBox 5">
            <a:extLst>
              <a:ext uri="{FF2B5EF4-FFF2-40B4-BE49-F238E27FC236}">
                <a16:creationId xmlns:a16="http://schemas.microsoft.com/office/drawing/2014/main" id="{E7C94275-3105-0A9A-4195-630CEC3A16C3}"/>
              </a:ext>
            </a:extLst>
          </p:cNvPr>
          <p:cNvSpPr txBox="1"/>
          <p:nvPr/>
        </p:nvSpPr>
        <p:spPr>
          <a:xfrm>
            <a:off x="798220" y="3426826"/>
            <a:ext cx="1034609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Nous </a:t>
            </a:r>
            <a:r>
              <a:rPr lang="en-US" err="1">
                <a:ea typeface="+mn-lt"/>
                <a:cs typeface="+mn-lt"/>
              </a:rPr>
              <a:t>supprimons</a:t>
            </a:r>
            <a:r>
              <a:rPr lang="en-US">
                <a:ea typeface="+mn-lt"/>
                <a:cs typeface="+mn-lt"/>
              </a:rPr>
              <a:t> les </a:t>
            </a:r>
            <a:r>
              <a:rPr lang="en-US" err="1">
                <a:ea typeface="+mn-lt"/>
                <a:cs typeface="+mn-lt"/>
              </a:rPr>
              <a:t>doublons</a:t>
            </a:r>
            <a:r>
              <a:rPr lang="en-US">
                <a:ea typeface="+mn-lt"/>
                <a:cs typeface="+mn-lt"/>
              </a:rPr>
              <a:t> </a:t>
            </a:r>
            <a:r>
              <a:rPr lang="en-US" err="1">
                <a:ea typeface="+mn-lt"/>
                <a:cs typeface="+mn-lt"/>
              </a:rPr>
              <a:t>afin</a:t>
            </a:r>
            <a:r>
              <a:rPr lang="en-US">
                <a:ea typeface="+mn-lt"/>
                <a:cs typeface="+mn-lt"/>
              </a:rPr>
              <a:t> </a:t>
            </a:r>
            <a:r>
              <a:rPr lang="en-US" err="1">
                <a:ea typeface="+mn-lt"/>
                <a:cs typeface="+mn-lt"/>
              </a:rPr>
              <a:t>d’éviter</a:t>
            </a:r>
            <a:r>
              <a:rPr lang="en-US">
                <a:ea typeface="+mn-lt"/>
                <a:cs typeface="+mn-lt"/>
              </a:rPr>
              <a:t> toute </a:t>
            </a:r>
            <a:r>
              <a:rPr lang="en-US" err="1">
                <a:ea typeface="+mn-lt"/>
                <a:cs typeface="+mn-lt"/>
              </a:rPr>
              <a:t>redondance</a:t>
            </a:r>
            <a:r>
              <a:rPr lang="en-US">
                <a:ea typeface="+mn-lt"/>
                <a:cs typeface="+mn-lt"/>
              </a:rPr>
              <a:t> dans les données et </a:t>
            </a:r>
            <a:r>
              <a:rPr lang="en-US" err="1">
                <a:ea typeface="+mn-lt"/>
                <a:cs typeface="+mn-lt"/>
              </a:rPr>
              <a:t>d’améliorer</a:t>
            </a:r>
            <a:r>
              <a:rPr lang="en-US">
                <a:ea typeface="+mn-lt"/>
                <a:cs typeface="+mn-lt"/>
              </a:rPr>
              <a:t> la </a:t>
            </a:r>
            <a:r>
              <a:rPr lang="en-US" err="1">
                <a:ea typeface="+mn-lt"/>
                <a:cs typeface="+mn-lt"/>
              </a:rPr>
              <a:t>qualité</a:t>
            </a:r>
            <a:r>
              <a:rPr lang="en-US">
                <a:ea typeface="+mn-lt"/>
                <a:cs typeface="+mn-lt"/>
              </a:rPr>
              <a:t> du dataset.</a:t>
            </a:r>
            <a:endParaRPr lang="en-US"/>
          </a:p>
        </p:txBody>
      </p:sp>
      <p:pic>
        <p:nvPicPr>
          <p:cNvPr id="14" name="Picture 13" descr="A black screen with white text&#10;&#10;AI-generated content may be incorrect.">
            <a:extLst>
              <a:ext uri="{FF2B5EF4-FFF2-40B4-BE49-F238E27FC236}">
                <a16:creationId xmlns:a16="http://schemas.microsoft.com/office/drawing/2014/main" id="{F97EC7AB-E4E5-19CF-741E-7BAB41B52E70}"/>
              </a:ext>
            </a:extLst>
          </p:cNvPr>
          <p:cNvPicPr>
            <a:picLocks noChangeAspect="1"/>
          </p:cNvPicPr>
          <p:nvPr/>
        </p:nvPicPr>
        <p:blipFill>
          <a:blip r:embed="rId3"/>
          <a:stretch>
            <a:fillRect/>
          </a:stretch>
        </p:blipFill>
        <p:spPr>
          <a:xfrm>
            <a:off x="2487103" y="4079127"/>
            <a:ext cx="4514850" cy="1000125"/>
          </a:xfrm>
          <a:prstGeom prst="rect">
            <a:avLst/>
          </a:prstGeom>
        </p:spPr>
      </p:pic>
    </p:spTree>
    <p:extLst>
      <p:ext uri="{BB962C8B-B14F-4D97-AF65-F5344CB8AC3E}">
        <p14:creationId xmlns:p14="http://schemas.microsoft.com/office/powerpoint/2010/main" val="801454498"/>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0BF44D-0EC8-D465-1D50-E67A3DDE2D19}"/>
              </a:ext>
            </a:extLst>
          </p:cNvPr>
          <p:cNvSpPr>
            <a:spLocks noGrp="1"/>
          </p:cNvSpPr>
          <p:nvPr>
            <p:ph type="ctrTitle"/>
          </p:nvPr>
        </p:nvSpPr>
        <p:spPr>
          <a:xfrm>
            <a:off x="695324" y="871758"/>
            <a:ext cx="10283452" cy="3871143"/>
          </a:xfrm>
        </p:spPr>
        <p:txBody>
          <a:bodyPr>
            <a:normAutofit/>
          </a:bodyPr>
          <a:lstStyle/>
          <a:p>
            <a:r>
              <a:rPr lang="en-US" sz="2400" b="1">
                <a:ea typeface="+mj-lt"/>
                <a:cs typeface="+mj-lt"/>
              </a:rPr>
              <a:t>Gestion des </a:t>
            </a:r>
            <a:r>
              <a:rPr lang="en-US" sz="2400" b="1" err="1">
                <a:ea typeface="+mj-lt"/>
                <a:cs typeface="+mj-lt"/>
              </a:rPr>
              <a:t>valeurs</a:t>
            </a:r>
            <a:r>
              <a:rPr lang="en-US" sz="2400" b="1">
                <a:ea typeface="+mj-lt"/>
                <a:cs typeface="+mj-lt"/>
              </a:rPr>
              <a:t> </a:t>
            </a:r>
            <a:r>
              <a:rPr lang="en-US" sz="2400" b="1" err="1">
                <a:ea typeface="+mj-lt"/>
                <a:cs typeface="+mj-lt"/>
              </a:rPr>
              <a:t>manquantes</a:t>
            </a:r>
            <a:r>
              <a:rPr lang="en-US" sz="2400">
                <a:ea typeface="+mj-lt"/>
                <a:cs typeface="+mj-lt"/>
              </a:rPr>
              <a:t> : </a:t>
            </a:r>
            <a:r>
              <a:rPr lang="en-US" sz="2400" err="1">
                <a:ea typeface="+mj-lt"/>
                <a:cs typeface="+mj-lt"/>
              </a:rPr>
              <a:t>remplir</a:t>
            </a:r>
            <a:r>
              <a:rPr lang="en-US" sz="2400">
                <a:ea typeface="+mj-lt"/>
                <a:cs typeface="+mj-lt"/>
              </a:rPr>
              <a:t> les </a:t>
            </a:r>
            <a:r>
              <a:rPr lang="en-US" sz="2400" err="1">
                <a:ea typeface="+mj-lt"/>
                <a:cs typeface="+mj-lt"/>
              </a:rPr>
              <a:t>valeurs</a:t>
            </a:r>
            <a:r>
              <a:rPr lang="en-US" sz="2400">
                <a:ea typeface="+mj-lt"/>
                <a:cs typeface="+mj-lt"/>
              </a:rPr>
              <a:t> </a:t>
            </a:r>
            <a:r>
              <a:rPr lang="en-US" sz="2400" err="1">
                <a:ea typeface="+mj-lt"/>
                <a:cs typeface="+mj-lt"/>
              </a:rPr>
              <a:t>absentes</a:t>
            </a:r>
            <a:r>
              <a:rPr lang="en-US" sz="2400">
                <a:ea typeface="+mj-lt"/>
                <a:cs typeface="+mj-lt"/>
              </a:rPr>
              <a:t> avec </a:t>
            </a:r>
            <a:r>
              <a:rPr lang="en-US" sz="2400" err="1">
                <a:ea typeface="+mj-lt"/>
                <a:cs typeface="+mj-lt"/>
              </a:rPr>
              <a:t>une</a:t>
            </a:r>
            <a:r>
              <a:rPr lang="en-US" sz="2400">
                <a:ea typeface="+mj-lt"/>
                <a:cs typeface="+mj-lt"/>
              </a:rPr>
              <a:t> </a:t>
            </a:r>
            <a:r>
              <a:rPr lang="en-US" sz="2400" err="1">
                <a:ea typeface="+mj-lt"/>
                <a:cs typeface="+mj-lt"/>
              </a:rPr>
              <a:t>moyenne</a:t>
            </a:r>
            <a:r>
              <a:rPr lang="en-US" sz="2400">
                <a:ea typeface="+mj-lt"/>
                <a:cs typeface="+mj-lt"/>
              </a:rPr>
              <a:t>, </a:t>
            </a:r>
            <a:r>
              <a:rPr lang="en-US" sz="2400" err="1">
                <a:ea typeface="+mj-lt"/>
                <a:cs typeface="+mj-lt"/>
              </a:rPr>
              <a:t>une</a:t>
            </a:r>
            <a:r>
              <a:rPr lang="en-US" sz="2400">
                <a:ea typeface="+mj-lt"/>
                <a:cs typeface="+mj-lt"/>
              </a:rPr>
              <a:t> </a:t>
            </a:r>
            <a:r>
              <a:rPr lang="en-US" sz="2400" err="1">
                <a:ea typeface="+mj-lt"/>
                <a:cs typeface="+mj-lt"/>
              </a:rPr>
              <a:t>médiane</a:t>
            </a:r>
            <a:r>
              <a:rPr lang="en-US" sz="2400">
                <a:ea typeface="+mj-lt"/>
                <a:cs typeface="+mj-lt"/>
              </a:rPr>
              <a:t> </a:t>
            </a:r>
            <a:r>
              <a:rPr lang="en-US" sz="2400" err="1">
                <a:ea typeface="+mj-lt"/>
                <a:cs typeface="+mj-lt"/>
              </a:rPr>
              <a:t>ou</a:t>
            </a:r>
            <a:r>
              <a:rPr lang="en-US" sz="2400">
                <a:ea typeface="+mj-lt"/>
                <a:cs typeface="+mj-lt"/>
              </a:rPr>
              <a:t> les </a:t>
            </a:r>
            <a:r>
              <a:rPr lang="en-US" sz="2400" err="1">
                <a:ea typeface="+mj-lt"/>
                <a:cs typeface="+mj-lt"/>
              </a:rPr>
              <a:t>supprimer</a:t>
            </a:r>
            <a:r>
              <a:rPr lang="en-US" sz="2400">
                <a:ea typeface="+mj-lt"/>
                <a:cs typeface="+mj-lt"/>
              </a:rPr>
              <a:t> </a:t>
            </a:r>
            <a:r>
              <a:rPr lang="en-US" sz="2400" err="1">
                <a:ea typeface="+mj-lt"/>
                <a:cs typeface="+mj-lt"/>
              </a:rPr>
              <a:t>si</a:t>
            </a:r>
            <a:r>
              <a:rPr lang="en-US" sz="2400">
                <a:ea typeface="+mj-lt"/>
                <a:cs typeface="+mj-lt"/>
              </a:rPr>
              <a:t> </a:t>
            </a:r>
            <a:r>
              <a:rPr lang="en-US" sz="2400" err="1">
                <a:ea typeface="+mj-lt"/>
                <a:cs typeface="+mj-lt"/>
              </a:rPr>
              <a:t>nécessaire</a:t>
            </a:r>
            <a:r>
              <a:rPr lang="en-US" sz="1800">
                <a:ea typeface="+mj-lt"/>
                <a:cs typeface="+mj-lt"/>
              </a:rPr>
              <a:t>.</a:t>
            </a:r>
            <a:br>
              <a:rPr lang="en-US" sz="1800">
                <a:ea typeface="+mj-lt"/>
                <a:cs typeface="+mj-lt"/>
              </a:rPr>
            </a:br>
            <a:endParaRPr lang="en-US" sz="1800" err="1"/>
          </a:p>
        </p:txBody>
      </p:sp>
      <p:cxnSp>
        <p:nvCxnSpPr>
          <p:cNvPr id="9" name="Straight Connector 8">
            <a:extLst>
              <a:ext uri="{FF2B5EF4-FFF2-40B4-BE49-F238E27FC236}">
                <a16:creationId xmlns:a16="http://schemas.microsoft.com/office/drawing/2014/main" id="{9CA98CE3-81A7-4FFE-A047-9AA65998D87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8D91C2B-BDB9-49BE-9C44-E0CFE597ABF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computer program&#10;&#10;AI-generated content may be incorrect.">
            <a:extLst>
              <a:ext uri="{FF2B5EF4-FFF2-40B4-BE49-F238E27FC236}">
                <a16:creationId xmlns:a16="http://schemas.microsoft.com/office/drawing/2014/main" id="{9999E978-8556-8390-2262-471868BAF2FA}"/>
              </a:ext>
            </a:extLst>
          </p:cNvPr>
          <p:cNvPicPr>
            <a:picLocks noChangeAspect="1"/>
          </p:cNvPicPr>
          <p:nvPr/>
        </p:nvPicPr>
        <p:blipFill>
          <a:blip r:embed="rId2"/>
          <a:stretch>
            <a:fillRect/>
          </a:stretch>
        </p:blipFill>
        <p:spPr>
          <a:xfrm>
            <a:off x="977134" y="1717292"/>
            <a:ext cx="4667250" cy="2924175"/>
          </a:xfrm>
          <a:prstGeom prst="rect">
            <a:avLst/>
          </a:prstGeom>
        </p:spPr>
      </p:pic>
      <p:sp>
        <p:nvSpPr>
          <p:cNvPr id="4" name="TextBox 3">
            <a:extLst>
              <a:ext uri="{FF2B5EF4-FFF2-40B4-BE49-F238E27FC236}">
                <a16:creationId xmlns:a16="http://schemas.microsoft.com/office/drawing/2014/main" id="{41581E62-C6CF-8E5F-6611-4E952681EB8B}"/>
              </a:ext>
            </a:extLst>
          </p:cNvPr>
          <p:cNvSpPr txBox="1"/>
          <p:nvPr/>
        </p:nvSpPr>
        <p:spPr>
          <a:xfrm>
            <a:off x="850510" y="4926043"/>
            <a:ext cx="9989388"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p</a:t>
            </a:r>
            <a:r>
              <a:rPr lang="en-US" sz="2400">
                <a:ea typeface="+mn-lt"/>
                <a:cs typeface="+mn-lt"/>
              </a:rPr>
              <a:t>rès la </a:t>
            </a:r>
            <a:r>
              <a:rPr lang="en-US" sz="2400" err="1">
                <a:ea typeface="+mn-lt"/>
                <a:cs typeface="+mn-lt"/>
              </a:rPr>
              <a:t>vérification</a:t>
            </a:r>
            <a:r>
              <a:rPr lang="en-US" sz="2400">
                <a:ea typeface="+mn-lt"/>
                <a:cs typeface="+mn-lt"/>
              </a:rPr>
              <a:t> des </a:t>
            </a:r>
            <a:r>
              <a:rPr lang="en-US" sz="2400" err="1">
                <a:ea typeface="+mn-lt"/>
                <a:cs typeface="+mn-lt"/>
              </a:rPr>
              <a:t>valeurs</a:t>
            </a:r>
            <a:r>
              <a:rPr lang="en-US" sz="2400">
                <a:ea typeface="+mn-lt"/>
                <a:cs typeface="+mn-lt"/>
              </a:rPr>
              <a:t> </a:t>
            </a:r>
            <a:r>
              <a:rPr lang="en-US" sz="2400" err="1">
                <a:ea typeface="+mn-lt"/>
                <a:cs typeface="+mn-lt"/>
              </a:rPr>
              <a:t>manquantes</a:t>
            </a:r>
            <a:r>
              <a:rPr lang="en-US" sz="2400">
                <a:ea typeface="+mn-lt"/>
                <a:cs typeface="+mn-lt"/>
              </a:rPr>
              <a:t>, nous </a:t>
            </a:r>
            <a:r>
              <a:rPr lang="en-US" sz="2400" err="1">
                <a:ea typeface="+mn-lt"/>
                <a:cs typeface="+mn-lt"/>
              </a:rPr>
              <a:t>constatons</a:t>
            </a:r>
            <a:r>
              <a:rPr lang="en-US" sz="2400">
                <a:ea typeface="+mn-lt"/>
                <a:cs typeface="+mn-lt"/>
              </a:rPr>
              <a:t> </a:t>
            </a:r>
            <a:r>
              <a:rPr lang="en-US" sz="2400" err="1">
                <a:ea typeface="+mn-lt"/>
                <a:cs typeface="+mn-lt"/>
              </a:rPr>
              <a:t>que</a:t>
            </a:r>
            <a:r>
              <a:rPr lang="en-US" sz="2400">
                <a:ea typeface="+mn-lt"/>
                <a:cs typeface="+mn-lt"/>
              </a:rPr>
              <a:t> </a:t>
            </a:r>
            <a:r>
              <a:rPr lang="en-US" sz="2400" err="1">
                <a:ea typeface="+mn-lt"/>
                <a:cs typeface="+mn-lt"/>
              </a:rPr>
              <a:t>seule</a:t>
            </a:r>
            <a:r>
              <a:rPr lang="en-US" sz="2400">
                <a:ea typeface="+mn-lt"/>
                <a:cs typeface="+mn-lt"/>
              </a:rPr>
              <a:t> la variable </a:t>
            </a:r>
            <a:r>
              <a:rPr lang="en-US" sz="2400" err="1">
                <a:latin typeface="Consolas"/>
              </a:rPr>
              <a:t>total_bedrooms</a:t>
            </a:r>
            <a:r>
              <a:rPr lang="en-US" sz="2400">
                <a:ea typeface="+mn-lt"/>
                <a:cs typeface="+mn-lt"/>
              </a:rPr>
              <a:t> </a:t>
            </a:r>
            <a:r>
              <a:rPr lang="en-US" sz="2400" err="1">
                <a:ea typeface="+mn-lt"/>
                <a:cs typeface="+mn-lt"/>
              </a:rPr>
              <a:t>contient</a:t>
            </a:r>
            <a:r>
              <a:rPr lang="en-US" sz="2400">
                <a:ea typeface="+mn-lt"/>
                <a:cs typeface="+mn-lt"/>
              </a:rPr>
              <a:t> des </a:t>
            </a:r>
            <a:r>
              <a:rPr lang="en-US" sz="2400" err="1">
                <a:ea typeface="+mn-lt"/>
                <a:cs typeface="+mn-lt"/>
              </a:rPr>
              <a:t>valeurs</a:t>
            </a:r>
            <a:r>
              <a:rPr lang="en-US" sz="2400">
                <a:ea typeface="+mn-lt"/>
                <a:cs typeface="+mn-lt"/>
              </a:rPr>
              <a:t> </a:t>
            </a:r>
            <a:r>
              <a:rPr lang="en-US" sz="2400" err="1">
                <a:ea typeface="+mn-lt"/>
                <a:cs typeface="+mn-lt"/>
              </a:rPr>
              <a:t>nulles</a:t>
            </a:r>
            <a:r>
              <a:rPr lang="en-US" sz="2400">
                <a:ea typeface="+mn-lt"/>
                <a:cs typeface="+mn-lt"/>
              </a:rPr>
              <a:t> (207 </a:t>
            </a:r>
            <a:r>
              <a:rPr lang="en-US" sz="2400" err="1">
                <a:ea typeface="+mn-lt"/>
                <a:cs typeface="+mn-lt"/>
              </a:rPr>
              <a:t>valeurs</a:t>
            </a:r>
            <a:r>
              <a:rPr lang="en-US" sz="2400">
                <a:ea typeface="+mn-lt"/>
                <a:cs typeface="+mn-lt"/>
              </a:rPr>
              <a:t> </a:t>
            </a:r>
            <a:r>
              <a:rPr lang="en-US" sz="2400" err="1">
                <a:ea typeface="+mn-lt"/>
                <a:cs typeface="+mn-lt"/>
              </a:rPr>
              <a:t>manquantes</a:t>
            </a:r>
            <a:r>
              <a:rPr lang="en-US" sz="2400">
                <a:ea typeface="+mn-lt"/>
                <a:cs typeface="+mn-lt"/>
              </a:rPr>
              <a:t>), </a:t>
            </a:r>
            <a:r>
              <a:rPr lang="en-US" sz="2400" err="1">
                <a:ea typeface="+mn-lt"/>
                <a:cs typeface="+mn-lt"/>
              </a:rPr>
              <a:t>tandis</a:t>
            </a:r>
            <a:r>
              <a:rPr lang="en-US" sz="2400">
                <a:ea typeface="+mn-lt"/>
                <a:cs typeface="+mn-lt"/>
              </a:rPr>
              <a:t> </a:t>
            </a:r>
            <a:r>
              <a:rPr lang="en-US" sz="2400" err="1">
                <a:ea typeface="+mn-lt"/>
                <a:cs typeface="+mn-lt"/>
              </a:rPr>
              <a:t>que</a:t>
            </a:r>
            <a:r>
              <a:rPr lang="en-US" sz="2400">
                <a:ea typeface="+mn-lt"/>
                <a:cs typeface="+mn-lt"/>
              </a:rPr>
              <a:t> les </a:t>
            </a:r>
            <a:r>
              <a:rPr lang="en-US" sz="2400" err="1">
                <a:ea typeface="+mn-lt"/>
                <a:cs typeface="+mn-lt"/>
              </a:rPr>
              <a:t>autres</a:t>
            </a:r>
            <a:r>
              <a:rPr lang="en-US" sz="2400">
                <a:ea typeface="+mn-lt"/>
                <a:cs typeface="+mn-lt"/>
              </a:rPr>
              <a:t> variables </a:t>
            </a:r>
            <a:r>
              <a:rPr lang="en-US" sz="2400" err="1">
                <a:ea typeface="+mn-lt"/>
                <a:cs typeface="+mn-lt"/>
              </a:rPr>
              <a:t>sont</a:t>
            </a:r>
            <a:r>
              <a:rPr lang="en-US" sz="2400">
                <a:ea typeface="+mn-lt"/>
                <a:cs typeface="+mn-lt"/>
              </a:rPr>
              <a:t> </a:t>
            </a:r>
            <a:r>
              <a:rPr lang="en-US" sz="2400" err="1">
                <a:ea typeface="+mn-lt"/>
                <a:cs typeface="+mn-lt"/>
              </a:rPr>
              <a:t>complètes</a:t>
            </a:r>
            <a:endParaRPr lang="en-US" sz="2000" err="1"/>
          </a:p>
        </p:txBody>
      </p:sp>
    </p:spTree>
    <p:extLst>
      <p:ext uri="{BB962C8B-B14F-4D97-AF65-F5344CB8AC3E}">
        <p14:creationId xmlns:p14="http://schemas.microsoft.com/office/powerpoint/2010/main" val="4222257747"/>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526644-FADC-6588-7643-EFB3B16316FA}"/>
              </a:ext>
            </a:extLst>
          </p:cNvPr>
          <p:cNvSpPr>
            <a:spLocks noGrp="1"/>
          </p:cNvSpPr>
          <p:nvPr>
            <p:ph type="ctrTitle"/>
          </p:nvPr>
        </p:nvSpPr>
        <p:spPr>
          <a:xfrm>
            <a:off x="695324" y="871758"/>
            <a:ext cx="10283452" cy="3871143"/>
          </a:xfrm>
        </p:spPr>
        <p:txBody>
          <a:bodyPr vert="horz" lIns="91440" tIns="45720" rIns="91440" bIns="45720" rtlCol="0" anchor="t">
            <a:noAutofit/>
          </a:bodyPr>
          <a:lstStyle/>
          <a:p>
            <a:r>
              <a:rPr lang="en-US" sz="1800">
                <a:ea typeface="+mj-lt"/>
                <a:cs typeface="+mj-lt"/>
              </a:rPr>
              <a:t>Pour </a:t>
            </a:r>
            <a:r>
              <a:rPr lang="en-US" sz="1800" err="1">
                <a:ea typeface="+mj-lt"/>
                <a:cs typeface="+mj-lt"/>
              </a:rPr>
              <a:t>traiter</a:t>
            </a:r>
            <a:r>
              <a:rPr lang="en-US" sz="1800">
                <a:ea typeface="+mj-lt"/>
                <a:cs typeface="+mj-lt"/>
              </a:rPr>
              <a:t> les </a:t>
            </a:r>
            <a:r>
              <a:rPr lang="en-US" sz="1800" err="1">
                <a:ea typeface="+mj-lt"/>
                <a:cs typeface="+mj-lt"/>
              </a:rPr>
              <a:t>valeurs</a:t>
            </a:r>
            <a:r>
              <a:rPr lang="en-US" sz="1800">
                <a:ea typeface="+mj-lt"/>
                <a:cs typeface="+mj-lt"/>
              </a:rPr>
              <a:t> </a:t>
            </a:r>
            <a:r>
              <a:rPr lang="en-US" sz="1800" err="1">
                <a:ea typeface="+mj-lt"/>
                <a:cs typeface="+mj-lt"/>
              </a:rPr>
              <a:t>manquantes</a:t>
            </a:r>
            <a:r>
              <a:rPr lang="en-US" sz="1800">
                <a:ea typeface="+mj-lt"/>
                <a:cs typeface="+mj-lt"/>
              </a:rPr>
              <a:t> dans la variable </a:t>
            </a:r>
            <a:r>
              <a:rPr lang="en-US" sz="1800" b="1" i="1" err="1">
                <a:ea typeface="+mj-lt"/>
                <a:cs typeface="+mj-lt"/>
              </a:rPr>
              <a:t>total_bedrooms</a:t>
            </a:r>
            <a:r>
              <a:rPr lang="en-US" sz="1800">
                <a:ea typeface="+mj-lt"/>
                <a:cs typeface="+mj-lt"/>
              </a:rPr>
              <a:t>, nous </a:t>
            </a:r>
            <a:r>
              <a:rPr lang="en-US" sz="1800" err="1">
                <a:ea typeface="+mj-lt"/>
                <a:cs typeface="+mj-lt"/>
              </a:rPr>
              <a:t>avons</a:t>
            </a:r>
            <a:r>
              <a:rPr lang="en-US" sz="1800">
                <a:ea typeface="+mj-lt"/>
                <a:cs typeface="+mj-lt"/>
              </a:rPr>
              <a:t> </a:t>
            </a:r>
            <a:r>
              <a:rPr lang="en-US" sz="1800" err="1">
                <a:ea typeface="+mj-lt"/>
                <a:cs typeface="+mj-lt"/>
              </a:rPr>
              <a:t>choisi</a:t>
            </a:r>
            <a:r>
              <a:rPr lang="en-US" sz="1800">
                <a:ea typeface="+mj-lt"/>
                <a:cs typeface="+mj-lt"/>
              </a:rPr>
              <a:t> de les </a:t>
            </a:r>
            <a:r>
              <a:rPr lang="en-US" sz="1800" err="1">
                <a:ea typeface="+mj-lt"/>
                <a:cs typeface="+mj-lt"/>
              </a:rPr>
              <a:t>remplacer</a:t>
            </a:r>
            <a:r>
              <a:rPr lang="en-US" sz="1800">
                <a:ea typeface="+mj-lt"/>
                <a:cs typeface="+mj-lt"/>
              </a:rPr>
              <a:t> par la </a:t>
            </a:r>
            <a:r>
              <a:rPr lang="en-US" sz="1800" b="1" err="1">
                <a:ea typeface="+mj-lt"/>
                <a:cs typeface="+mj-lt"/>
              </a:rPr>
              <a:t>moyenne</a:t>
            </a:r>
            <a:r>
              <a:rPr lang="en-US" sz="1800">
                <a:ea typeface="+mj-lt"/>
                <a:cs typeface="+mj-lt"/>
              </a:rPr>
              <a:t> de la </a:t>
            </a:r>
            <a:r>
              <a:rPr lang="en-US" sz="1800" err="1">
                <a:ea typeface="+mj-lt"/>
                <a:cs typeface="+mj-lt"/>
              </a:rPr>
              <a:t>colonne</a:t>
            </a:r>
            <a:endParaRPr lang="en-US" sz="1800" err="1"/>
          </a:p>
        </p:txBody>
      </p:sp>
      <p:cxnSp>
        <p:nvCxnSpPr>
          <p:cNvPr id="9" name="Straight Connector 8">
            <a:extLst>
              <a:ext uri="{FF2B5EF4-FFF2-40B4-BE49-F238E27FC236}">
                <a16:creationId xmlns:a16="http://schemas.microsoft.com/office/drawing/2014/main" id="{9CA98CE3-81A7-4FFE-A047-9AA65998D87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8D91C2B-BDB9-49BE-9C44-E0CFE597ABF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A screen shot of a computer code&#10;&#10;AI-generated content may be incorrect.">
            <a:extLst>
              <a:ext uri="{FF2B5EF4-FFF2-40B4-BE49-F238E27FC236}">
                <a16:creationId xmlns:a16="http://schemas.microsoft.com/office/drawing/2014/main" id="{4E1BDFAA-AA6E-A858-168F-9F77DDA99C14}"/>
              </a:ext>
            </a:extLst>
          </p:cNvPr>
          <p:cNvPicPr>
            <a:picLocks noChangeAspect="1"/>
          </p:cNvPicPr>
          <p:nvPr/>
        </p:nvPicPr>
        <p:blipFill>
          <a:blip r:embed="rId2"/>
          <a:stretch>
            <a:fillRect/>
          </a:stretch>
        </p:blipFill>
        <p:spPr>
          <a:xfrm>
            <a:off x="691551" y="1732472"/>
            <a:ext cx="8077200" cy="1524000"/>
          </a:xfrm>
          <a:prstGeom prst="rect">
            <a:avLst/>
          </a:prstGeom>
        </p:spPr>
      </p:pic>
    </p:spTree>
    <p:extLst>
      <p:ext uri="{BB962C8B-B14F-4D97-AF65-F5344CB8AC3E}">
        <p14:creationId xmlns:p14="http://schemas.microsoft.com/office/powerpoint/2010/main" val="911975159"/>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1976E8-9EAF-CD4F-3303-26B7C85A2BAF}"/>
              </a:ext>
            </a:extLst>
          </p:cNvPr>
          <p:cNvSpPr>
            <a:spLocks noGrp="1"/>
          </p:cNvSpPr>
          <p:nvPr>
            <p:ph type="ctrTitle"/>
          </p:nvPr>
        </p:nvSpPr>
        <p:spPr>
          <a:xfrm>
            <a:off x="672029" y="981927"/>
            <a:ext cx="10411523" cy="5022266"/>
          </a:xfrm>
        </p:spPr>
        <p:txBody>
          <a:bodyPr>
            <a:normAutofit/>
          </a:bodyPr>
          <a:lstStyle/>
          <a:p>
            <a:r>
              <a:rPr lang="en-US" sz="2000" dirty="0">
                <a:ea typeface="+mj-lt"/>
                <a:cs typeface="+mj-lt"/>
              </a:rPr>
              <a:t>La </a:t>
            </a:r>
            <a:r>
              <a:rPr lang="en-US" sz="2000" dirty="0" err="1">
                <a:ea typeface="+mj-lt"/>
                <a:cs typeface="+mj-lt"/>
              </a:rPr>
              <a:t>détection</a:t>
            </a:r>
            <a:r>
              <a:rPr lang="en-US" sz="2000" dirty="0">
                <a:ea typeface="+mj-lt"/>
                <a:cs typeface="+mj-lt"/>
              </a:rPr>
              <a:t> des </a:t>
            </a:r>
            <a:r>
              <a:rPr lang="en-US" sz="2000" dirty="0" err="1">
                <a:ea typeface="+mj-lt"/>
                <a:cs typeface="+mj-lt"/>
              </a:rPr>
              <a:t>valeurs</a:t>
            </a:r>
            <a:r>
              <a:rPr lang="en-US" sz="2000" dirty="0">
                <a:ea typeface="+mj-lt"/>
                <a:cs typeface="+mj-lt"/>
              </a:rPr>
              <a:t> </a:t>
            </a:r>
            <a:r>
              <a:rPr lang="en-US" sz="2000" dirty="0" err="1">
                <a:ea typeface="+mj-lt"/>
                <a:cs typeface="+mj-lt"/>
              </a:rPr>
              <a:t>aberrantes</a:t>
            </a:r>
            <a:r>
              <a:rPr lang="en-US" sz="2000" dirty="0">
                <a:ea typeface="+mj-lt"/>
                <a:cs typeface="+mj-lt"/>
              </a:rPr>
              <a:t> (Outliers):</a:t>
            </a:r>
            <a:br>
              <a:rPr lang="en-US" sz="2000" dirty="0">
                <a:ea typeface="+mj-lt"/>
                <a:cs typeface="+mj-lt"/>
              </a:rPr>
            </a:br>
            <a:r>
              <a:rPr lang="en-US" sz="2000" dirty="0">
                <a:ea typeface="+mj-lt"/>
                <a:cs typeface="+mj-lt"/>
              </a:rPr>
              <a:t>Les </a:t>
            </a:r>
            <a:r>
              <a:rPr lang="en-US" sz="2000" dirty="0" err="1">
                <a:ea typeface="+mj-lt"/>
                <a:cs typeface="+mj-lt"/>
              </a:rPr>
              <a:t>valeurs</a:t>
            </a:r>
            <a:r>
              <a:rPr lang="en-US" sz="2000" dirty="0">
                <a:ea typeface="+mj-lt"/>
                <a:cs typeface="+mj-lt"/>
              </a:rPr>
              <a:t> </a:t>
            </a:r>
            <a:r>
              <a:rPr lang="en-US" sz="2000" dirty="0" err="1">
                <a:ea typeface="+mj-lt"/>
                <a:cs typeface="+mj-lt"/>
              </a:rPr>
              <a:t>aberrantes</a:t>
            </a:r>
            <a:r>
              <a:rPr lang="en-US" sz="2000" dirty="0">
                <a:ea typeface="+mj-lt"/>
                <a:cs typeface="+mj-lt"/>
              </a:rPr>
              <a:t> </a:t>
            </a:r>
            <a:r>
              <a:rPr lang="en-US" sz="2000" dirty="0" err="1">
                <a:ea typeface="+mj-lt"/>
                <a:cs typeface="+mj-lt"/>
              </a:rPr>
              <a:t>sont</a:t>
            </a:r>
            <a:r>
              <a:rPr lang="en-US" sz="2000" dirty="0">
                <a:ea typeface="+mj-lt"/>
                <a:cs typeface="+mj-lt"/>
              </a:rPr>
              <a:t> des observations </a:t>
            </a:r>
            <a:r>
              <a:rPr lang="en-US" sz="2000" dirty="0" err="1">
                <a:ea typeface="+mj-lt"/>
                <a:cs typeface="+mj-lt"/>
              </a:rPr>
              <a:t>extrêmes</a:t>
            </a:r>
            <a:r>
              <a:rPr lang="en-US" sz="2000" dirty="0">
                <a:ea typeface="+mj-lt"/>
                <a:cs typeface="+mj-lt"/>
              </a:rPr>
              <a:t> (</a:t>
            </a:r>
            <a:r>
              <a:rPr lang="en-US" sz="2000" dirty="0" err="1">
                <a:ea typeface="+mj-lt"/>
                <a:cs typeface="+mj-lt"/>
              </a:rPr>
              <a:t>très</a:t>
            </a:r>
            <a:r>
              <a:rPr lang="en-US" sz="2000" dirty="0">
                <a:ea typeface="+mj-lt"/>
                <a:cs typeface="+mj-lt"/>
              </a:rPr>
              <a:t> </a:t>
            </a:r>
            <a:r>
              <a:rPr lang="en-US" sz="2000" dirty="0" err="1">
                <a:ea typeface="+mj-lt"/>
                <a:cs typeface="+mj-lt"/>
              </a:rPr>
              <a:t>grandes</a:t>
            </a:r>
            <a:r>
              <a:rPr lang="en-US" sz="2000" dirty="0">
                <a:ea typeface="+mj-lt"/>
                <a:cs typeface="+mj-lt"/>
              </a:rPr>
              <a:t> </a:t>
            </a:r>
            <a:r>
              <a:rPr lang="en-US" sz="2000" dirty="0" err="1">
                <a:ea typeface="+mj-lt"/>
                <a:cs typeface="+mj-lt"/>
              </a:rPr>
              <a:t>ou</a:t>
            </a:r>
            <a:r>
              <a:rPr lang="en-US" sz="2000" dirty="0">
                <a:ea typeface="+mj-lt"/>
                <a:cs typeface="+mj-lt"/>
              </a:rPr>
              <a:t> </a:t>
            </a:r>
            <a:r>
              <a:rPr lang="en-US" sz="2000" dirty="0" err="1">
                <a:ea typeface="+mj-lt"/>
                <a:cs typeface="+mj-lt"/>
              </a:rPr>
              <a:t>très</a:t>
            </a:r>
            <a:r>
              <a:rPr lang="en-US" sz="2000" dirty="0">
                <a:ea typeface="+mj-lt"/>
                <a:cs typeface="+mj-lt"/>
              </a:rPr>
              <a:t> petites) qui </a:t>
            </a:r>
            <a:r>
              <a:rPr lang="en-US" sz="2000" dirty="0" err="1">
                <a:ea typeface="+mj-lt"/>
                <a:cs typeface="+mj-lt"/>
              </a:rPr>
              <a:t>peuvent</a:t>
            </a:r>
            <a:r>
              <a:rPr lang="en-US" sz="2000" dirty="0">
                <a:ea typeface="+mj-lt"/>
                <a:cs typeface="+mj-lt"/>
              </a:rPr>
              <a:t> :</a:t>
            </a:r>
          </a:p>
          <a:p>
            <a:pPr marL="285750" indent="-285750">
              <a:buFont typeface="Arial"/>
              <a:buChar char="•"/>
            </a:pPr>
            <a:r>
              <a:rPr lang="en-US" sz="2000" dirty="0">
                <a:ea typeface="+mj-lt"/>
                <a:cs typeface="+mj-lt"/>
              </a:rPr>
              <a:t>Influencer </a:t>
            </a:r>
            <a:r>
              <a:rPr lang="en-US" sz="2000" dirty="0" err="1">
                <a:ea typeface="+mj-lt"/>
                <a:cs typeface="+mj-lt"/>
              </a:rPr>
              <a:t>fortement</a:t>
            </a:r>
            <a:r>
              <a:rPr lang="en-US" sz="2000" dirty="0">
                <a:ea typeface="+mj-lt"/>
                <a:cs typeface="+mj-lt"/>
              </a:rPr>
              <a:t> la </a:t>
            </a:r>
            <a:r>
              <a:rPr lang="en-US" sz="2000" dirty="0" err="1">
                <a:ea typeface="+mj-lt"/>
                <a:cs typeface="+mj-lt"/>
              </a:rPr>
              <a:t>moyenne</a:t>
            </a:r>
            <a:endParaRPr lang="en-US" dirty="0"/>
          </a:p>
          <a:p>
            <a:pPr marL="285750" indent="-285750">
              <a:buFont typeface="Arial"/>
              <a:buChar char="•"/>
            </a:pPr>
            <a:r>
              <a:rPr lang="en-US" sz="2000" dirty="0" err="1">
                <a:ea typeface="+mj-lt"/>
                <a:cs typeface="+mj-lt"/>
              </a:rPr>
              <a:t>Fausser</a:t>
            </a:r>
            <a:r>
              <a:rPr lang="en-US" sz="2000" dirty="0">
                <a:ea typeface="+mj-lt"/>
                <a:cs typeface="+mj-lt"/>
              </a:rPr>
              <a:t> les analyses </a:t>
            </a:r>
            <a:r>
              <a:rPr lang="en-US" sz="2000" dirty="0" err="1">
                <a:ea typeface="+mj-lt"/>
                <a:cs typeface="+mj-lt"/>
              </a:rPr>
              <a:t>statistiques</a:t>
            </a:r>
            <a:endParaRPr lang="en-US" dirty="0"/>
          </a:p>
          <a:p>
            <a:pPr marL="285750" indent="-285750">
              <a:buFont typeface="Arial"/>
              <a:buChar char="•"/>
            </a:pPr>
            <a:r>
              <a:rPr lang="en-US" sz="2000" dirty="0" err="1">
                <a:ea typeface="+mj-lt"/>
                <a:cs typeface="+mj-lt"/>
              </a:rPr>
              <a:t>Diminuer</a:t>
            </a:r>
            <a:r>
              <a:rPr lang="en-US" sz="2000" dirty="0">
                <a:ea typeface="+mj-lt"/>
                <a:cs typeface="+mj-lt"/>
              </a:rPr>
              <a:t> la performance des </a:t>
            </a:r>
            <a:r>
              <a:rPr lang="en-US" sz="2000" dirty="0" err="1">
                <a:ea typeface="+mj-lt"/>
                <a:cs typeface="+mj-lt"/>
              </a:rPr>
              <a:t>modèles</a:t>
            </a:r>
            <a:r>
              <a:rPr lang="en-US" sz="2000" dirty="0">
                <a:ea typeface="+mj-lt"/>
                <a:cs typeface="+mj-lt"/>
              </a:rPr>
              <a:t> de Machine Learning</a:t>
            </a:r>
            <a:endParaRPr lang="en-US" dirty="0"/>
          </a:p>
          <a:p>
            <a:r>
              <a:rPr lang="en-US" sz="2000" dirty="0">
                <a:ea typeface="+mj-lt"/>
                <a:cs typeface="+mj-lt"/>
              </a:rPr>
              <a:t>Il </a:t>
            </a:r>
            <a:r>
              <a:rPr lang="en-US" sz="2000" dirty="0" err="1">
                <a:ea typeface="+mj-lt"/>
                <a:cs typeface="+mj-lt"/>
              </a:rPr>
              <a:t>est</a:t>
            </a:r>
            <a:r>
              <a:rPr lang="en-US" sz="2000" dirty="0">
                <a:ea typeface="+mj-lt"/>
                <a:cs typeface="+mj-lt"/>
              </a:rPr>
              <a:t> </a:t>
            </a:r>
            <a:r>
              <a:rPr lang="en-US" sz="2000" dirty="0" err="1">
                <a:ea typeface="+mj-lt"/>
                <a:cs typeface="+mj-lt"/>
              </a:rPr>
              <a:t>donc</a:t>
            </a:r>
            <a:r>
              <a:rPr lang="en-US" sz="2000" dirty="0">
                <a:ea typeface="+mj-lt"/>
                <a:cs typeface="+mj-lt"/>
              </a:rPr>
              <a:t> important de les identifier </a:t>
            </a:r>
            <a:r>
              <a:rPr lang="en-US" sz="2000" dirty="0" err="1">
                <a:ea typeface="+mj-lt"/>
                <a:cs typeface="+mj-lt"/>
              </a:rPr>
              <a:t>avant</a:t>
            </a:r>
            <a:r>
              <a:rPr lang="en-US" sz="2000" dirty="0">
                <a:ea typeface="+mj-lt"/>
                <a:cs typeface="+mj-lt"/>
              </a:rPr>
              <a:t> de passer à la phase de transformation.</a:t>
            </a:r>
            <a:endParaRPr lang="en-US" dirty="0"/>
          </a:p>
          <a:p>
            <a:r>
              <a:rPr lang="en-US" sz="2000" dirty="0" smtClean="0">
                <a:ea typeface="+mj-lt"/>
                <a:cs typeface="+mj-lt"/>
              </a:rPr>
              <a:t/>
            </a:r>
            <a:br>
              <a:rPr lang="en-US" sz="2000" dirty="0" smtClean="0">
                <a:ea typeface="+mj-lt"/>
                <a:cs typeface="+mj-lt"/>
              </a:rPr>
            </a:br>
            <a:r>
              <a:rPr lang="fr-FR" sz="2000" b="1" dirty="0">
                <a:solidFill>
                  <a:srgbClr val="FFFF00"/>
                </a:solidFill>
              </a:rPr>
              <a:t>Méthodes de Détection des </a:t>
            </a:r>
            <a:r>
              <a:rPr lang="fr-FR" sz="2000" b="1" dirty="0" err="1" smtClean="0">
                <a:solidFill>
                  <a:srgbClr val="FFFF00"/>
                </a:solidFill>
              </a:rPr>
              <a:t>Outliers</a:t>
            </a:r>
            <a:r>
              <a:rPr lang="fr-FR" sz="2000" b="1" dirty="0" smtClean="0">
                <a:solidFill>
                  <a:srgbClr val="FFFF00"/>
                </a:solidFill>
              </a:rPr>
              <a:t/>
            </a:r>
            <a:br>
              <a:rPr lang="fr-FR" sz="2000" b="1" dirty="0" smtClean="0">
                <a:solidFill>
                  <a:srgbClr val="FFFF00"/>
                </a:solidFill>
              </a:rPr>
            </a:br>
            <a:r>
              <a:rPr lang="en-US" sz="2000" dirty="0" smtClean="0">
                <a:ea typeface="+mj-lt"/>
                <a:cs typeface="+mj-lt"/>
              </a:rPr>
              <a:t/>
            </a:r>
            <a:br>
              <a:rPr lang="en-US" sz="2000" dirty="0" smtClean="0">
                <a:ea typeface="+mj-lt"/>
                <a:cs typeface="+mj-lt"/>
              </a:rPr>
            </a:br>
            <a:r>
              <a:rPr lang="fr-FR" sz="2000" b="1" u="sng" dirty="0" smtClean="0"/>
              <a:t>Méthode de l’IQR(Interquartile </a:t>
            </a:r>
            <a:r>
              <a:rPr lang="fr-FR" sz="2000" b="1" u="sng" dirty="0"/>
              <a:t>Range</a:t>
            </a:r>
            <a:r>
              <a:rPr lang="fr-FR" sz="2000" b="1" u="sng" dirty="0" smtClean="0"/>
              <a:t>):</a:t>
            </a:r>
            <a:endParaRPr lang="en-US" sz="2000" b="1" u="sng" dirty="0">
              <a:ea typeface="+mj-lt"/>
              <a:cs typeface="+mj-lt"/>
            </a:endParaRPr>
          </a:p>
        </p:txBody>
      </p:sp>
      <p:cxnSp>
        <p:nvCxnSpPr>
          <p:cNvPr id="9" name="Straight Connector 8">
            <a:extLst>
              <a:ext uri="{FF2B5EF4-FFF2-40B4-BE49-F238E27FC236}">
                <a16:creationId xmlns:a16="http://schemas.microsoft.com/office/drawing/2014/main" id="{9CA98CE3-81A7-4FFE-A047-9AA65998D87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8D91C2B-BDB9-49BE-9C44-E0CFE597ABF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306519"/>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9CA98CE3-81A7-4FFE-A047-9AA65998D87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8D91C2B-BDB9-49BE-9C44-E0CFE597ABF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2"/>
          <p:cNvSpPr>
            <a:spLocks noChangeArrowheads="1"/>
          </p:cNvSpPr>
          <p:nvPr/>
        </p:nvSpPr>
        <p:spPr bwMode="auto">
          <a:xfrm>
            <a:off x="882501" y="6271543"/>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209" y="249352"/>
            <a:ext cx="6283465" cy="2971661"/>
          </a:xfrm>
          <a:prstGeom prst="rect">
            <a:avLst/>
          </a:prstGeom>
        </p:spPr>
      </p:pic>
      <p:sp>
        <p:nvSpPr>
          <p:cNvPr id="8" name="Rectangle 7"/>
          <p:cNvSpPr/>
          <p:nvPr/>
        </p:nvSpPr>
        <p:spPr>
          <a:xfrm>
            <a:off x="389086" y="3221013"/>
            <a:ext cx="2129109" cy="400110"/>
          </a:xfrm>
          <a:prstGeom prst="rect">
            <a:avLst/>
          </a:prstGeom>
        </p:spPr>
        <p:txBody>
          <a:bodyPr wrap="none">
            <a:spAutoFit/>
          </a:bodyPr>
          <a:lstStyle/>
          <a:p>
            <a:r>
              <a:rPr lang="fr-FR" sz="2000" b="1" u="sng" dirty="0"/>
              <a:t>Méthode Z-Score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211" y="3722240"/>
            <a:ext cx="6198916" cy="2565178"/>
          </a:xfrm>
          <a:prstGeom prst="rect">
            <a:avLst/>
          </a:prstGeom>
        </p:spPr>
      </p:pic>
      <p:sp>
        <p:nvSpPr>
          <p:cNvPr id="13" name="Rectangle 12"/>
          <p:cNvSpPr/>
          <p:nvPr/>
        </p:nvSpPr>
        <p:spPr>
          <a:xfrm>
            <a:off x="7400260" y="172971"/>
            <a:ext cx="2530629" cy="461665"/>
          </a:xfrm>
          <a:prstGeom prst="rect">
            <a:avLst/>
          </a:prstGeom>
        </p:spPr>
        <p:txBody>
          <a:bodyPr wrap="none">
            <a:spAutoFit/>
          </a:bodyPr>
          <a:lstStyle/>
          <a:p>
            <a:r>
              <a:rPr lang="fr-FR" sz="2400" b="1" u="sng" dirty="0"/>
              <a:t>Méthode </a:t>
            </a:r>
            <a:r>
              <a:rPr lang="fr-FR" sz="2400" b="1" u="sng" dirty="0" err="1" smtClean="0"/>
              <a:t>Boxplot</a:t>
            </a:r>
            <a:endParaRPr lang="fr-FR" sz="2400" b="1" u="sng" dirty="0"/>
          </a:p>
        </p:txBody>
      </p:sp>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99883" y="807607"/>
            <a:ext cx="4647076" cy="1988756"/>
          </a:xfrm>
          <a:prstGeom prst="rect">
            <a:avLst/>
          </a:prstGeom>
        </p:spPr>
      </p:pic>
    </p:spTree>
    <p:extLst>
      <p:ext uri="{BB962C8B-B14F-4D97-AF65-F5344CB8AC3E}">
        <p14:creationId xmlns:p14="http://schemas.microsoft.com/office/powerpoint/2010/main" val="1507903843"/>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9CA98CE3-81A7-4FFE-A047-9AA65998D87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8D91C2B-BDB9-49BE-9C44-E0CFE597ABFE}"/>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708837" y="1124635"/>
            <a:ext cx="6096000" cy="646331"/>
          </a:xfrm>
          <a:prstGeom prst="rect">
            <a:avLst/>
          </a:prstGeom>
        </p:spPr>
        <p:txBody>
          <a:bodyPr>
            <a:spAutoFit/>
          </a:bodyPr>
          <a:lstStyle/>
          <a:p>
            <a:r>
              <a:rPr lang="fr-FR" b="1" u="sng" dirty="0"/>
              <a:t>Supprimer les </a:t>
            </a:r>
            <a:r>
              <a:rPr lang="fr-FR" b="1" u="sng" dirty="0" err="1"/>
              <a:t>outliers</a:t>
            </a:r>
            <a:r>
              <a:rPr lang="fr-FR" b="1" u="sng" dirty="0"/>
              <a:t> (</a:t>
            </a:r>
            <a:r>
              <a:rPr lang="fr-FR" b="1" u="sng" dirty="0" err="1"/>
              <a:t>Removal</a:t>
            </a:r>
            <a:r>
              <a:rPr lang="fr-FR" b="1" u="sng" dirty="0" smtClean="0"/>
              <a:t>):</a:t>
            </a:r>
            <a:endParaRPr lang="fr-FR" b="1" u="sng" dirty="0"/>
          </a:p>
          <a:p>
            <a:r>
              <a:rPr lang="fr-FR" dirty="0" smtClean="0"/>
              <a:t>On </a:t>
            </a:r>
            <a:r>
              <a:rPr lang="fr-FR" dirty="0"/>
              <a:t>élimine les lignes contenant des valeurs extrêmes.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837" y="1862635"/>
            <a:ext cx="10363058" cy="1348398"/>
          </a:xfrm>
          <a:prstGeom prst="rect">
            <a:avLst/>
          </a:prstGeom>
        </p:spPr>
      </p:pic>
    </p:spTree>
    <p:extLst>
      <p:ext uri="{BB962C8B-B14F-4D97-AF65-F5344CB8AC3E}">
        <p14:creationId xmlns:p14="http://schemas.microsoft.com/office/powerpoint/2010/main" val="1864476237"/>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endParaRPr lang="fr-FR"/>
          </a:p>
        </p:txBody>
      </p:sp>
    </p:spTree>
    <p:extLst>
      <p:ext uri="{BB962C8B-B14F-4D97-AF65-F5344CB8AC3E}">
        <p14:creationId xmlns:p14="http://schemas.microsoft.com/office/powerpoint/2010/main" val="3245195295"/>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727</TotalTime>
  <Words>559</Words>
  <Application>Microsoft Office PowerPoint</Application>
  <PresentationFormat>Widescreen</PresentationFormat>
  <Paragraphs>40</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Calisto MT</vt:lpstr>
      <vt:lpstr>Consolas</vt:lpstr>
      <vt:lpstr>Univers Condensed</vt:lpstr>
      <vt:lpstr>ChronicleVTI</vt:lpstr>
      <vt:lpstr>Préparation des Données</vt:lpstr>
      <vt:lpstr> La préparation des données est une étape essentielle dans tout projet d'analyse ou de machine learning. Elle consiste à rendre les données propres, cohérentes et prêtes pour l'analyse. Cette étape garantit que les résultats obtenus seront fiables et précis. </vt:lpstr>
      <vt:lpstr>Pandas est une bibliothèque Python open-source conçue pour la manipulation et l'analyse des données. Elle permet de traiter des données complexes et volumineuses de manière rapide et efficace. Principales caractéristiques de Pandas : DataFrame : structure de données en 2 dimensions (tableau) avec des lignes et des colonnes, similaire à Excel. Series : structure de données en 1 dimension (une seule colonne). Nettoyage et transformation des données : gérer les valeurs manquantes, supprimer les doublons, changer les types de données… Analyse et statistiques : tri, regroupement, calcul de la moyenne, somme, minimum, maximum, etc. Compatibilité avec plusieurs formats : CSV, Excel, SQL, JSON, etc. </vt:lpstr>
      <vt:lpstr>NumPy (Numerical Python)    est une bibliothèque fondamentale de Python utilisée pour le calcul scientifique et numérique.Elle permet de manipuler des tableaux multidimensionnels (arrays) et d’effectuer des calculs mathématiques rapides et efficaces. Principales caractéristiques de NumPy :  1️⃣ Array  Structure de données principale de NumPy. C’est un tableau plus rapide et plus performant qu’une liste Python classique. 2️⃣ Calculs mathématiques  Opérations vectorisées (addition, multiplication, moyenne, etc.) beaucoup plus rapides que les boucles classiques.</vt:lpstr>
      <vt:lpstr>3️⃣ Fonctions mathématiques avancées Algèbre linéaire, statistiques, trigonométrie, matrices, etc. 4️⃣ Base des bibliothèques Data Science Des bibliothèques comme pandas, scikit-learn et matplotlib utilisent NumPy en arrière-plan. </vt:lpstr>
      <vt:lpstr>Nettoyage des données (Data Cleaning)</vt:lpstr>
      <vt:lpstr>Une vérification des doublons est effectuée afin d’identifier les lignes répétées dans les données.</vt:lpstr>
      <vt:lpstr>Gestion des valeurs manquantes : remplir les valeurs absentes avec une moyenne, une médiane ou les supprimer si nécessaire. </vt:lpstr>
      <vt:lpstr>Pour traiter les valeurs manquantes dans la variable total_bedrooms, nous avons choisi de les remplacer par la moyenne de la colonne</vt:lpstr>
      <vt:lpstr>La détection des valeurs aberrantes (Outliers): Les valeurs aberrantes sont des observations extrêmes (très grandes ou très petites) qui peuvent : Influencer fortement la moyenne Fausser les analyses statistiques Diminuer la performance des modèles de Machine Learning Il est donc important de les identifier avant de passer à la phase de transformation.  Méthodes de Détection des Outliers  Méthode de l’IQR(Interquartile Range):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Préparation des Données</dc:title>
  <dc:creator>Dell</dc:creator>
  <cp:lastModifiedBy>Dell</cp:lastModifiedBy>
  <cp:revision>11</cp:revision>
  <dcterms:created xsi:type="dcterms:W3CDTF">2026-02-17T19:36:05Z</dcterms:created>
  <dcterms:modified xsi:type="dcterms:W3CDTF">2026-02-24T23:09:40Z</dcterms:modified>
</cp:coreProperties>
</file>